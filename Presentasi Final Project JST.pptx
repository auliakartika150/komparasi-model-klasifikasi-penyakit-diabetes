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0287000" cx="18288000"/>
  <p:notesSz cx="6858000" cy="9144000"/>
  <p:embeddedFontLst>
    <p:embeddedFont>
      <p:font typeface="Tomorrow"/>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hNdTEC3TD27ijmNAkrGhc1utuQ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omorrow-regular.fntdata"/><Relationship Id="rId25" Type="http://schemas.openxmlformats.org/officeDocument/2006/relationships/slide" Target="slides/slide20.xml"/><Relationship Id="rId28" Type="http://schemas.openxmlformats.org/officeDocument/2006/relationships/font" Target="fonts/Tomorrow-italic.fntdata"/><Relationship Id="rId27" Type="http://schemas.openxmlformats.org/officeDocument/2006/relationships/font" Target="fonts/Tomorrow-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omorrow-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5.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hyperlink" Target="https://www.kaggle.com/datasets/iammustafatz/diabetes-prediction-datase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1.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hyperlink" Target="https://colab.research.google.com/drive/1bnzJ8i_Mf3e0jIzaCuDpofj7TVxiSTql?usp=sharing" TargetMode="External"/><Relationship Id="rId6" Type="http://schemas.openxmlformats.org/officeDocument/2006/relationships/hyperlink" Target="https://colab.research.google.com/drive/1iWbLs32TcCICYN0nfwtPgYTYmHevTc8q#scrollTo=5c363b7e" TargetMode="External"/><Relationship Id="rId7" Type="http://schemas.openxmlformats.org/officeDocument/2006/relationships/hyperlink" Target="https://colab.research.google.com/drive/1bnzJ8i_Mf3e0jIzaCuDpofj7TVxiSTql?usp=shar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jp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85" name="Google Shape;85;p1"/>
          <p:cNvSpPr/>
          <p:nvPr/>
        </p:nvSpPr>
        <p:spPr>
          <a:xfrm flipH="1">
            <a:off x="-520028" y="4678788"/>
            <a:ext cx="18808028" cy="11216424"/>
          </a:xfrm>
          <a:custGeom>
            <a:rect b="b" l="l" r="r" t="t"/>
            <a:pathLst>
              <a:path extrusionOk="0" h="11216424" w="18808028">
                <a:moveTo>
                  <a:pt x="18808028" y="0"/>
                </a:moveTo>
                <a:lnTo>
                  <a:pt x="0" y="0"/>
                </a:lnTo>
                <a:lnTo>
                  <a:pt x="0" y="11216424"/>
                </a:lnTo>
                <a:lnTo>
                  <a:pt x="18808028" y="11216424"/>
                </a:lnTo>
                <a:lnTo>
                  <a:pt x="18808028" y="0"/>
                </a:lnTo>
                <a:close/>
              </a:path>
            </a:pathLst>
          </a:custGeom>
          <a:blipFill rotWithShape="1">
            <a:blip r:embed="rId4">
              <a:alphaModFix/>
            </a:blip>
            <a:stretch>
              <a:fillRect b="0" l="0" r="0" t="0"/>
            </a:stretch>
          </a:blipFill>
          <a:ln>
            <a:noFill/>
          </a:ln>
        </p:spPr>
      </p:sp>
      <p:sp>
        <p:nvSpPr>
          <p:cNvPr id="86" name="Google Shape;86;p1"/>
          <p:cNvSpPr/>
          <p:nvPr/>
        </p:nvSpPr>
        <p:spPr>
          <a:xfrm>
            <a:off x="1028700" y="2057400"/>
            <a:ext cx="10270952" cy="8229600"/>
          </a:xfrm>
          <a:custGeom>
            <a:rect b="b" l="l" r="r" t="t"/>
            <a:pathLst>
              <a:path extrusionOk="0" h="8229600" w="10270952">
                <a:moveTo>
                  <a:pt x="0" y="0"/>
                </a:moveTo>
                <a:lnTo>
                  <a:pt x="10270952" y="0"/>
                </a:lnTo>
                <a:lnTo>
                  <a:pt x="10270952" y="8229600"/>
                </a:lnTo>
                <a:lnTo>
                  <a:pt x="0" y="8229600"/>
                </a:lnTo>
                <a:lnTo>
                  <a:pt x="0" y="0"/>
                </a:lnTo>
                <a:close/>
              </a:path>
            </a:pathLst>
          </a:custGeom>
          <a:blipFill rotWithShape="1">
            <a:blip r:embed="rId5">
              <a:alphaModFix/>
            </a:blip>
            <a:stretch>
              <a:fillRect b="0" l="0" r="0" t="0"/>
            </a:stretch>
          </a:blipFill>
          <a:ln>
            <a:noFill/>
          </a:ln>
        </p:spPr>
      </p:sp>
      <p:sp>
        <p:nvSpPr>
          <p:cNvPr id="87" name="Google Shape;87;p1"/>
          <p:cNvSpPr txBox="1"/>
          <p:nvPr/>
        </p:nvSpPr>
        <p:spPr>
          <a:xfrm>
            <a:off x="7381119" y="1626130"/>
            <a:ext cx="10073505" cy="3371850"/>
          </a:xfrm>
          <a:prstGeom prst="rect">
            <a:avLst/>
          </a:prstGeom>
          <a:noFill/>
          <a:ln>
            <a:noFill/>
          </a:ln>
        </p:spPr>
        <p:txBody>
          <a:bodyPr anchorCtr="0" anchor="t" bIns="0" lIns="0" spcFirstLastPara="1" rIns="0" wrap="square" tIns="0">
            <a:spAutoFit/>
          </a:bodyPr>
          <a:lstStyle/>
          <a:p>
            <a:pPr indent="0" lvl="0" marL="0" marR="0" rtl="0" algn="ctr">
              <a:lnSpc>
                <a:spcPct val="104999"/>
              </a:lnSpc>
              <a:spcBef>
                <a:spcPts val="0"/>
              </a:spcBef>
              <a:spcAft>
                <a:spcPts val="0"/>
              </a:spcAft>
              <a:buNone/>
            </a:pPr>
            <a:r>
              <a:rPr b="0" i="0" lang="en-US" sz="5000" u="none" cap="none" strike="noStrike">
                <a:solidFill>
                  <a:srgbClr val="FFFFFF"/>
                </a:solidFill>
                <a:latin typeface="Arial"/>
                <a:ea typeface="Arial"/>
                <a:cs typeface="Arial"/>
                <a:sym typeface="Arial"/>
              </a:rPr>
              <a:t>KOMPARASI METODE EXTREME LEARNING MACHINE, SUPPORT VECTOR MACHINE, DAN MULTI-LAYER PERCEPTRON UNTUK KLASIFIKASI DIABETES</a:t>
            </a:r>
            <a:endParaRPr/>
          </a:p>
        </p:txBody>
      </p:sp>
      <p:sp>
        <p:nvSpPr>
          <p:cNvPr id="88" name="Google Shape;88;p1"/>
          <p:cNvSpPr txBox="1"/>
          <p:nvPr/>
        </p:nvSpPr>
        <p:spPr>
          <a:xfrm>
            <a:off x="8302422" y="6597850"/>
            <a:ext cx="8074500" cy="696900"/>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0" i="0" lang="en-US" sz="4528" u="none" cap="none" strike="noStrike">
                <a:solidFill>
                  <a:srgbClr val="FFFFFF"/>
                </a:solidFill>
                <a:latin typeface="Tomorrow"/>
                <a:ea typeface="Tomorrow"/>
                <a:cs typeface="Tomorrow"/>
                <a:sym typeface="Tomorrow"/>
              </a:rPr>
              <a:t>Kelompok 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4" name="Google Shape;94;p2"/>
          <p:cNvSpPr/>
          <p:nvPr/>
        </p:nvSpPr>
        <p:spPr>
          <a:xfrm>
            <a:off x="-1387460" y="-1208173"/>
            <a:ext cx="8262428" cy="4022498"/>
          </a:xfrm>
          <a:custGeom>
            <a:rect b="b" l="l" r="r" t="t"/>
            <a:pathLst>
              <a:path extrusionOk="0" h="4022498" w="8262428">
                <a:moveTo>
                  <a:pt x="0" y="0"/>
                </a:moveTo>
                <a:lnTo>
                  <a:pt x="8262428" y="0"/>
                </a:lnTo>
                <a:lnTo>
                  <a:pt x="8262428" y="4022498"/>
                </a:lnTo>
                <a:lnTo>
                  <a:pt x="0" y="4022498"/>
                </a:lnTo>
                <a:lnTo>
                  <a:pt x="0" y="0"/>
                </a:lnTo>
                <a:close/>
              </a:path>
            </a:pathLst>
          </a:custGeom>
          <a:blipFill rotWithShape="1">
            <a:blip r:embed="rId4">
              <a:alphaModFix/>
            </a:blip>
            <a:stretch>
              <a:fillRect b="0" l="0" r="0" t="0"/>
            </a:stretch>
          </a:blipFill>
          <a:ln>
            <a:noFill/>
          </a:ln>
        </p:spPr>
      </p:sp>
      <p:sp>
        <p:nvSpPr>
          <p:cNvPr id="95" name="Google Shape;95;p2"/>
          <p:cNvSpPr/>
          <p:nvPr/>
        </p:nvSpPr>
        <p:spPr>
          <a:xfrm>
            <a:off x="1028700" y="1100605"/>
            <a:ext cx="16230600" cy="8085790"/>
          </a:xfrm>
          <a:custGeom>
            <a:rect b="b" l="l" r="r" t="t"/>
            <a:pathLst>
              <a:path extrusionOk="0" h="8085790" w="16230600">
                <a:moveTo>
                  <a:pt x="0" y="0"/>
                </a:moveTo>
                <a:lnTo>
                  <a:pt x="16230600" y="0"/>
                </a:lnTo>
                <a:lnTo>
                  <a:pt x="16230600" y="8085790"/>
                </a:lnTo>
                <a:lnTo>
                  <a:pt x="0" y="8085790"/>
                </a:lnTo>
                <a:lnTo>
                  <a:pt x="0" y="0"/>
                </a:lnTo>
                <a:close/>
              </a:path>
            </a:pathLst>
          </a:custGeom>
          <a:blipFill rotWithShape="1">
            <a:blip r:embed="rId5">
              <a:alphaModFix/>
            </a:blip>
            <a:stretch>
              <a:fillRect b="0" l="0" r="0" t="0"/>
            </a:stretch>
          </a:blipFill>
          <a:ln>
            <a:noFill/>
          </a:ln>
        </p:spPr>
      </p:sp>
      <p:sp>
        <p:nvSpPr>
          <p:cNvPr id="96" name="Google Shape;96;p2"/>
          <p:cNvSpPr/>
          <p:nvPr/>
        </p:nvSpPr>
        <p:spPr>
          <a:xfrm>
            <a:off x="11618349" y="8275751"/>
            <a:ext cx="8262428" cy="4022498"/>
          </a:xfrm>
          <a:custGeom>
            <a:rect b="b" l="l" r="r" t="t"/>
            <a:pathLst>
              <a:path extrusionOk="0" h="4022498" w="8262428">
                <a:moveTo>
                  <a:pt x="0" y="0"/>
                </a:moveTo>
                <a:lnTo>
                  <a:pt x="8262428" y="0"/>
                </a:lnTo>
                <a:lnTo>
                  <a:pt x="8262428" y="4022498"/>
                </a:lnTo>
                <a:lnTo>
                  <a:pt x="0" y="4022498"/>
                </a:lnTo>
                <a:lnTo>
                  <a:pt x="0" y="0"/>
                </a:lnTo>
                <a:close/>
              </a:path>
            </a:pathLst>
          </a:custGeom>
          <a:blipFill rotWithShape="1">
            <a:blip r:embed="rId4">
              <a:alphaModFix/>
            </a:blip>
            <a:stretch>
              <a:fillRect b="0" l="0" r="0" t="0"/>
            </a:stretch>
          </a:blipFill>
          <a:ln>
            <a:noFill/>
          </a:ln>
        </p:spPr>
      </p:sp>
      <p:sp>
        <p:nvSpPr>
          <p:cNvPr id="97" name="Google Shape;97;p2"/>
          <p:cNvSpPr txBox="1"/>
          <p:nvPr/>
        </p:nvSpPr>
        <p:spPr>
          <a:xfrm>
            <a:off x="3211803" y="4851781"/>
            <a:ext cx="11864394" cy="2683623"/>
          </a:xfrm>
          <a:prstGeom prst="rect">
            <a:avLst/>
          </a:prstGeom>
          <a:noFill/>
          <a:ln>
            <a:noFill/>
          </a:ln>
        </p:spPr>
        <p:txBody>
          <a:bodyPr anchorCtr="0" anchor="t" bIns="0" lIns="0" spcFirstLastPara="1" rIns="0" wrap="square" tIns="0">
            <a:spAutoFit/>
          </a:bodyPr>
          <a:lstStyle/>
          <a:p>
            <a:pPr indent="-415126" lvl="1" marL="830253" marR="0" rtl="0" algn="l">
              <a:lnSpc>
                <a:spcPct val="140000"/>
              </a:lnSpc>
              <a:spcBef>
                <a:spcPts val="0"/>
              </a:spcBef>
              <a:spcAft>
                <a:spcPts val="0"/>
              </a:spcAft>
              <a:buClr>
                <a:srgbClr val="2E0031"/>
              </a:buClr>
              <a:buSzPts val="3845"/>
              <a:buFont typeface="Arial"/>
              <a:buChar char="•"/>
            </a:pPr>
            <a:r>
              <a:rPr b="0" i="0" lang="en-US" sz="3845" u="none" cap="none" strike="noStrike">
                <a:solidFill>
                  <a:srgbClr val="2E0031"/>
                </a:solidFill>
                <a:latin typeface="Tomorrow"/>
                <a:ea typeface="Tomorrow"/>
                <a:cs typeface="Tomorrow"/>
                <a:sym typeface="Tomorrow"/>
              </a:rPr>
              <a:t>Farah Meytha Aisha - 235150200111030</a:t>
            </a:r>
            <a:endParaRPr/>
          </a:p>
          <a:p>
            <a:pPr indent="-415126" lvl="1" marL="830253" marR="0" rtl="0" algn="l">
              <a:lnSpc>
                <a:spcPct val="140000"/>
              </a:lnSpc>
              <a:spcBef>
                <a:spcPts val="0"/>
              </a:spcBef>
              <a:spcAft>
                <a:spcPts val="0"/>
              </a:spcAft>
              <a:buClr>
                <a:srgbClr val="2E0031"/>
              </a:buClr>
              <a:buSzPts val="3845"/>
              <a:buFont typeface="Arial"/>
              <a:buChar char="•"/>
            </a:pPr>
            <a:r>
              <a:rPr b="0" i="0" lang="en-US" sz="3845" u="none" cap="none" strike="noStrike">
                <a:solidFill>
                  <a:srgbClr val="2E0031"/>
                </a:solidFill>
                <a:latin typeface="Tomorrow"/>
                <a:ea typeface="Tomorrow"/>
                <a:cs typeface="Tomorrow"/>
                <a:sym typeface="Tomorrow"/>
              </a:rPr>
              <a:t>Gladys Abel Veneta Gorge - 235150201111038</a:t>
            </a:r>
            <a:endParaRPr/>
          </a:p>
          <a:p>
            <a:pPr indent="-415126" lvl="1" marL="830253" marR="0" rtl="0" algn="l">
              <a:lnSpc>
                <a:spcPct val="140000"/>
              </a:lnSpc>
              <a:spcBef>
                <a:spcPts val="0"/>
              </a:spcBef>
              <a:spcAft>
                <a:spcPts val="0"/>
              </a:spcAft>
              <a:buClr>
                <a:srgbClr val="2E0031"/>
              </a:buClr>
              <a:buSzPts val="3845"/>
              <a:buFont typeface="Arial"/>
              <a:buChar char="•"/>
            </a:pPr>
            <a:r>
              <a:rPr b="0" i="0" lang="en-US" sz="3845" u="none" cap="none" strike="noStrike">
                <a:solidFill>
                  <a:srgbClr val="2E0031"/>
                </a:solidFill>
                <a:latin typeface="Tomorrow"/>
                <a:ea typeface="Tomorrow"/>
                <a:cs typeface="Tomorrow"/>
                <a:sym typeface="Tomorrow"/>
              </a:rPr>
              <a:t>Izzah Faiq Putri Madani - 235150201111039</a:t>
            </a:r>
            <a:endParaRPr/>
          </a:p>
          <a:p>
            <a:pPr indent="-415126" lvl="1" marL="830253" marR="0" rtl="0" algn="l">
              <a:lnSpc>
                <a:spcPct val="140000"/>
              </a:lnSpc>
              <a:spcBef>
                <a:spcPts val="0"/>
              </a:spcBef>
              <a:spcAft>
                <a:spcPts val="0"/>
              </a:spcAft>
              <a:buClr>
                <a:srgbClr val="2E0031"/>
              </a:buClr>
              <a:buSzPts val="3845"/>
              <a:buFont typeface="Arial"/>
              <a:buChar char="•"/>
            </a:pPr>
            <a:r>
              <a:rPr b="0" i="0" lang="en-US" sz="3845" u="none" cap="none" strike="noStrike">
                <a:solidFill>
                  <a:srgbClr val="2E0031"/>
                </a:solidFill>
                <a:latin typeface="Tomorrow"/>
                <a:ea typeface="Tomorrow"/>
                <a:cs typeface="Tomorrow"/>
                <a:sym typeface="Tomorrow"/>
              </a:rPr>
              <a:t>Aulia Kartika Putri - 235150207111033</a:t>
            </a:r>
            <a:endParaRPr/>
          </a:p>
        </p:txBody>
      </p:sp>
      <p:sp>
        <p:nvSpPr>
          <p:cNvPr id="98" name="Google Shape;98;p2"/>
          <p:cNvSpPr txBox="1"/>
          <p:nvPr/>
        </p:nvSpPr>
        <p:spPr>
          <a:xfrm>
            <a:off x="1739007" y="3116428"/>
            <a:ext cx="14809985" cy="1646268"/>
          </a:xfrm>
          <a:prstGeom prst="rect">
            <a:avLst/>
          </a:prstGeom>
          <a:noFill/>
          <a:ln>
            <a:noFill/>
          </a:ln>
        </p:spPr>
        <p:txBody>
          <a:bodyPr anchorCtr="0" anchor="t" bIns="0" lIns="0" spcFirstLastPara="1" rIns="0" wrap="square" tIns="0">
            <a:spAutoFit/>
          </a:bodyPr>
          <a:lstStyle/>
          <a:p>
            <a:pPr indent="0" lvl="0" marL="0" marR="0" rtl="0" algn="ctr">
              <a:lnSpc>
                <a:spcPct val="116998"/>
              </a:lnSpc>
              <a:spcBef>
                <a:spcPts val="0"/>
              </a:spcBef>
              <a:spcAft>
                <a:spcPts val="0"/>
              </a:spcAft>
              <a:buNone/>
            </a:pPr>
            <a:r>
              <a:rPr b="0" i="0" lang="en-US" sz="11036" u="none" cap="none" strike="noStrike">
                <a:solidFill>
                  <a:srgbClr val="2E0031"/>
                </a:solidFill>
                <a:latin typeface="Arial"/>
                <a:ea typeface="Arial"/>
                <a:cs typeface="Arial"/>
                <a:sym typeface="Arial"/>
              </a:rPr>
              <a:t>Anggota kelompok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04" name="Google Shape;104;p3"/>
          <p:cNvSpPr/>
          <p:nvPr/>
        </p:nvSpPr>
        <p:spPr>
          <a:xfrm>
            <a:off x="-1387460" y="-1208173"/>
            <a:ext cx="8262428" cy="4022498"/>
          </a:xfrm>
          <a:custGeom>
            <a:rect b="b" l="l" r="r" t="t"/>
            <a:pathLst>
              <a:path extrusionOk="0" h="4022498" w="8262428">
                <a:moveTo>
                  <a:pt x="0" y="0"/>
                </a:moveTo>
                <a:lnTo>
                  <a:pt x="8262428" y="0"/>
                </a:lnTo>
                <a:lnTo>
                  <a:pt x="8262428" y="4022498"/>
                </a:lnTo>
                <a:lnTo>
                  <a:pt x="0" y="4022498"/>
                </a:lnTo>
                <a:lnTo>
                  <a:pt x="0" y="0"/>
                </a:lnTo>
                <a:close/>
              </a:path>
            </a:pathLst>
          </a:custGeom>
          <a:blipFill rotWithShape="1">
            <a:blip r:embed="rId4">
              <a:alphaModFix/>
            </a:blip>
            <a:stretch>
              <a:fillRect b="0" l="0" r="0" t="0"/>
            </a:stretch>
          </a:blipFill>
          <a:ln>
            <a:noFill/>
          </a:ln>
        </p:spPr>
      </p:sp>
      <p:sp>
        <p:nvSpPr>
          <p:cNvPr id="105" name="Google Shape;105;p3"/>
          <p:cNvSpPr/>
          <p:nvPr/>
        </p:nvSpPr>
        <p:spPr>
          <a:xfrm>
            <a:off x="11618349" y="8275751"/>
            <a:ext cx="8262428" cy="4022498"/>
          </a:xfrm>
          <a:custGeom>
            <a:rect b="b" l="l" r="r" t="t"/>
            <a:pathLst>
              <a:path extrusionOk="0" h="4022498" w="8262428">
                <a:moveTo>
                  <a:pt x="0" y="0"/>
                </a:moveTo>
                <a:lnTo>
                  <a:pt x="8262428" y="0"/>
                </a:lnTo>
                <a:lnTo>
                  <a:pt x="8262428" y="4022498"/>
                </a:lnTo>
                <a:lnTo>
                  <a:pt x="0" y="4022498"/>
                </a:lnTo>
                <a:lnTo>
                  <a:pt x="0" y="0"/>
                </a:lnTo>
                <a:close/>
              </a:path>
            </a:pathLst>
          </a:custGeom>
          <a:blipFill rotWithShape="1">
            <a:blip r:embed="rId4">
              <a:alphaModFix/>
            </a:blip>
            <a:stretch>
              <a:fillRect b="0" l="0" r="0" t="0"/>
            </a:stretch>
          </a:blipFill>
          <a:ln>
            <a:noFill/>
          </a:ln>
        </p:spPr>
      </p:sp>
      <p:sp>
        <p:nvSpPr>
          <p:cNvPr id="106" name="Google Shape;106;p3"/>
          <p:cNvSpPr/>
          <p:nvPr/>
        </p:nvSpPr>
        <p:spPr>
          <a:xfrm>
            <a:off x="514350" y="1447056"/>
            <a:ext cx="17259300" cy="8598269"/>
          </a:xfrm>
          <a:custGeom>
            <a:rect b="b" l="l" r="r" t="t"/>
            <a:pathLst>
              <a:path extrusionOk="0" h="8598269" w="17259300">
                <a:moveTo>
                  <a:pt x="0" y="0"/>
                </a:moveTo>
                <a:lnTo>
                  <a:pt x="17259300" y="0"/>
                </a:lnTo>
                <a:lnTo>
                  <a:pt x="17259300" y="8598270"/>
                </a:lnTo>
                <a:lnTo>
                  <a:pt x="0" y="8598270"/>
                </a:lnTo>
                <a:lnTo>
                  <a:pt x="0" y="0"/>
                </a:lnTo>
                <a:close/>
              </a:path>
            </a:pathLst>
          </a:custGeom>
          <a:blipFill rotWithShape="1">
            <a:blip r:embed="rId5">
              <a:alphaModFix/>
            </a:blip>
            <a:stretch>
              <a:fillRect b="0" l="0" r="0" t="0"/>
            </a:stretch>
          </a:blipFill>
          <a:ln>
            <a:noFill/>
          </a:ln>
        </p:spPr>
      </p:sp>
      <p:sp>
        <p:nvSpPr>
          <p:cNvPr id="107" name="Google Shape;107;p3"/>
          <p:cNvSpPr txBox="1"/>
          <p:nvPr/>
        </p:nvSpPr>
        <p:spPr>
          <a:xfrm>
            <a:off x="3171341" y="1726570"/>
            <a:ext cx="12259996" cy="120205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8000" u="sng" cap="none" strike="noStrike">
                <a:solidFill>
                  <a:srgbClr val="2E0031"/>
                </a:solidFill>
                <a:latin typeface="Arial"/>
                <a:ea typeface="Arial"/>
                <a:cs typeface="Arial"/>
                <a:sym typeface="Arial"/>
                <a:hlinkClick r:id="rId6">
                  <a:extLst>
                    <a:ext uri="{A12FA001-AC4F-418D-AE19-62706E023703}">
                      <ahyp:hlinkClr val="tx"/>
                    </a:ext>
                  </a:extLst>
                </a:hlinkClick>
              </a:rPr>
              <a:t>DATASET </a:t>
            </a:r>
            <a:endParaRPr/>
          </a:p>
        </p:txBody>
      </p:sp>
      <p:sp>
        <p:nvSpPr>
          <p:cNvPr id="108" name="Google Shape;108;p3"/>
          <p:cNvSpPr txBox="1"/>
          <p:nvPr/>
        </p:nvSpPr>
        <p:spPr>
          <a:xfrm>
            <a:off x="1198821" y="3156118"/>
            <a:ext cx="16070004" cy="6503035"/>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0" i="0" lang="en-US" sz="3099" u="none" cap="none" strike="noStrike">
                <a:solidFill>
                  <a:srgbClr val="2E0031"/>
                </a:solidFill>
                <a:latin typeface="Tomorrow"/>
                <a:ea typeface="Tomorrow"/>
                <a:cs typeface="Tomorrow"/>
                <a:sym typeface="Tomorrow"/>
              </a:rPr>
              <a:t>Alasan memilih data set tersebut : </a:t>
            </a:r>
            <a:endParaRPr/>
          </a:p>
          <a:p>
            <a:pPr indent="-334644" lvl="1" marL="669289" marR="0" rtl="0" algn="ctr">
              <a:lnSpc>
                <a:spcPct val="140012"/>
              </a:lnSpc>
              <a:spcBef>
                <a:spcPts val="0"/>
              </a:spcBef>
              <a:spcAft>
                <a:spcPts val="0"/>
              </a:spcAft>
              <a:buClr>
                <a:srgbClr val="2E0031"/>
              </a:buClr>
              <a:buSzPts val="3099"/>
              <a:buFont typeface="Tomorrow"/>
              <a:buAutoNum type="arabicPeriod"/>
            </a:pPr>
            <a:r>
              <a:rPr b="0" i="0" lang="en-US" sz="3099" u="none" cap="none" strike="noStrike">
                <a:solidFill>
                  <a:srgbClr val="2E0031"/>
                </a:solidFill>
                <a:latin typeface="Tomorrow"/>
                <a:ea typeface="Tomorrow"/>
                <a:cs typeface="Tomorrow"/>
                <a:sym typeface="Tomorrow"/>
              </a:rPr>
              <a:t>Relevan dan Berdampak di Dunia Nyata : Diabetes adalah masalah kesehatan global sehingga pengembangan model prediksi sangat bermanfaat untuk  pencegahan penyakit.</a:t>
            </a:r>
            <a:endParaRPr/>
          </a:p>
          <a:p>
            <a:pPr indent="-334644" lvl="1" marL="669289" marR="0" rtl="0" algn="ctr">
              <a:lnSpc>
                <a:spcPct val="140012"/>
              </a:lnSpc>
              <a:spcBef>
                <a:spcPts val="0"/>
              </a:spcBef>
              <a:spcAft>
                <a:spcPts val="0"/>
              </a:spcAft>
              <a:buClr>
                <a:srgbClr val="2E0031"/>
              </a:buClr>
              <a:buSzPts val="3099"/>
              <a:buFont typeface="Tomorrow"/>
              <a:buAutoNum type="arabicPeriod"/>
            </a:pPr>
            <a:r>
              <a:rPr b="0" i="0" lang="en-US" sz="3099" u="none" cap="none" strike="noStrike">
                <a:solidFill>
                  <a:srgbClr val="2E0031"/>
                </a:solidFill>
                <a:latin typeface="Tomorrow"/>
                <a:ea typeface="Tomorrow"/>
                <a:cs typeface="Tomorrow"/>
                <a:sym typeface="Tomorrow"/>
              </a:rPr>
              <a:t>Fitur Lengkap dan Representatif untuk Prediksi : Dataset menyediakan variabel klinis dan gaya hidup yang berhubungan langsung dengan risiko diabetes, sehingga sangat cocok dijadikan dasar penelitian klasifikasi diabetes.</a:t>
            </a:r>
            <a:endParaRPr/>
          </a:p>
          <a:p>
            <a:pPr indent="-334644" lvl="1" marL="669289" marR="0" rtl="0" algn="ctr">
              <a:lnSpc>
                <a:spcPct val="140012"/>
              </a:lnSpc>
              <a:spcBef>
                <a:spcPts val="0"/>
              </a:spcBef>
              <a:spcAft>
                <a:spcPts val="0"/>
              </a:spcAft>
              <a:buClr>
                <a:srgbClr val="2E0031"/>
              </a:buClr>
              <a:buSzPts val="3099"/>
              <a:buFont typeface="Tomorrow"/>
              <a:buAutoNum type="arabicPeriod"/>
            </a:pPr>
            <a:r>
              <a:rPr b="0" i="0" lang="en-US" sz="3099" u="none" cap="none" strike="noStrike">
                <a:solidFill>
                  <a:srgbClr val="2E0031"/>
                </a:solidFill>
                <a:latin typeface="Tomorrow"/>
                <a:ea typeface="Tomorrow"/>
                <a:cs typeface="Tomorrow"/>
                <a:sym typeface="Tomorrow"/>
              </a:rPr>
              <a:t>Cocok untuk Berbagai Metode Klasifikasi yang Dibandingkan  : Dataset tersebut memiliki struktur data yang sederhana namun bervariasi, sehingga dapat digunakan untuk mengevaluasi dan membandingkan performa algoritma seperti SVM, ELM, dan LMP dalam menyelesaikan tugas prediksi diabetes secara efektif.</a:t>
            </a:r>
            <a:endParaRPr/>
          </a:p>
          <a:p>
            <a:pPr indent="0" lvl="0" marL="0" marR="0" rtl="0" algn="ctr">
              <a:lnSpc>
                <a:spcPct val="140012"/>
              </a:lnSpc>
              <a:spcBef>
                <a:spcPts val="0"/>
              </a:spcBef>
              <a:spcAft>
                <a:spcPts val="0"/>
              </a:spcAft>
              <a:buNone/>
            </a:pPr>
            <a:r>
              <a:t/>
            </a:r>
            <a:endParaRPr b="0" i="0" sz="3099" u="none" cap="none" strike="noStrike">
              <a:solidFill>
                <a:srgbClr val="2E0031"/>
              </a:solidFill>
              <a:latin typeface="Tomorrow"/>
              <a:ea typeface="Tomorrow"/>
              <a:cs typeface="Tomorrow"/>
              <a:sym typeface="Tomorr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14" name="Google Shape;114;p4"/>
          <p:cNvSpPr/>
          <p:nvPr/>
        </p:nvSpPr>
        <p:spPr>
          <a:xfrm>
            <a:off x="-1387460" y="-1208173"/>
            <a:ext cx="8262428" cy="4022498"/>
          </a:xfrm>
          <a:custGeom>
            <a:rect b="b" l="l" r="r" t="t"/>
            <a:pathLst>
              <a:path extrusionOk="0" h="4022498" w="8262428">
                <a:moveTo>
                  <a:pt x="0" y="0"/>
                </a:moveTo>
                <a:lnTo>
                  <a:pt x="8262428" y="0"/>
                </a:lnTo>
                <a:lnTo>
                  <a:pt x="8262428" y="4022498"/>
                </a:lnTo>
                <a:lnTo>
                  <a:pt x="0" y="4022498"/>
                </a:lnTo>
                <a:lnTo>
                  <a:pt x="0" y="0"/>
                </a:lnTo>
                <a:close/>
              </a:path>
            </a:pathLst>
          </a:custGeom>
          <a:blipFill rotWithShape="1">
            <a:blip r:embed="rId4">
              <a:alphaModFix/>
            </a:blip>
            <a:stretch>
              <a:fillRect b="0" l="0" r="0" t="0"/>
            </a:stretch>
          </a:blipFill>
          <a:ln>
            <a:noFill/>
          </a:ln>
        </p:spPr>
      </p:sp>
      <p:sp>
        <p:nvSpPr>
          <p:cNvPr id="115" name="Google Shape;115;p4"/>
          <p:cNvSpPr/>
          <p:nvPr/>
        </p:nvSpPr>
        <p:spPr>
          <a:xfrm>
            <a:off x="11618349" y="8275751"/>
            <a:ext cx="8262428" cy="4022498"/>
          </a:xfrm>
          <a:custGeom>
            <a:rect b="b" l="l" r="r" t="t"/>
            <a:pathLst>
              <a:path extrusionOk="0" h="4022498" w="8262428">
                <a:moveTo>
                  <a:pt x="0" y="0"/>
                </a:moveTo>
                <a:lnTo>
                  <a:pt x="8262428" y="0"/>
                </a:lnTo>
                <a:lnTo>
                  <a:pt x="8262428" y="4022498"/>
                </a:lnTo>
                <a:lnTo>
                  <a:pt x="0" y="4022498"/>
                </a:lnTo>
                <a:lnTo>
                  <a:pt x="0" y="0"/>
                </a:lnTo>
                <a:close/>
              </a:path>
            </a:pathLst>
          </a:custGeom>
          <a:blipFill rotWithShape="1">
            <a:blip r:embed="rId4">
              <a:alphaModFix/>
            </a:blip>
            <a:stretch>
              <a:fillRect b="0" l="0" r="0" t="0"/>
            </a:stretch>
          </a:blipFill>
          <a:ln>
            <a:noFill/>
          </a:ln>
        </p:spPr>
      </p:sp>
      <p:sp>
        <p:nvSpPr>
          <p:cNvPr id="116" name="Google Shape;116;p4"/>
          <p:cNvSpPr/>
          <p:nvPr/>
        </p:nvSpPr>
        <p:spPr>
          <a:xfrm>
            <a:off x="514350" y="1447056"/>
            <a:ext cx="17259300" cy="8598269"/>
          </a:xfrm>
          <a:custGeom>
            <a:rect b="b" l="l" r="r" t="t"/>
            <a:pathLst>
              <a:path extrusionOk="0" h="8598269" w="17259300">
                <a:moveTo>
                  <a:pt x="0" y="0"/>
                </a:moveTo>
                <a:lnTo>
                  <a:pt x="17259300" y="0"/>
                </a:lnTo>
                <a:lnTo>
                  <a:pt x="17259300" y="8598270"/>
                </a:lnTo>
                <a:lnTo>
                  <a:pt x="0" y="8598270"/>
                </a:lnTo>
                <a:lnTo>
                  <a:pt x="0" y="0"/>
                </a:lnTo>
                <a:close/>
              </a:path>
            </a:pathLst>
          </a:custGeom>
          <a:blipFill rotWithShape="1">
            <a:blip r:embed="rId5">
              <a:alphaModFix/>
            </a:blip>
            <a:stretch>
              <a:fillRect b="0" l="0" r="0" t="0"/>
            </a:stretch>
          </a:blipFill>
          <a:ln>
            <a:noFill/>
          </a:ln>
        </p:spPr>
      </p:sp>
      <p:sp>
        <p:nvSpPr>
          <p:cNvPr id="117" name="Google Shape;117;p4"/>
          <p:cNvSpPr txBox="1"/>
          <p:nvPr/>
        </p:nvSpPr>
        <p:spPr>
          <a:xfrm>
            <a:off x="3171341" y="1831345"/>
            <a:ext cx="12259996" cy="120205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8000" u="none" cap="none" strike="noStrike">
                <a:solidFill>
                  <a:srgbClr val="2E0031"/>
                </a:solidFill>
                <a:latin typeface="Arial"/>
                <a:ea typeface="Arial"/>
                <a:cs typeface="Arial"/>
                <a:sym typeface="Arial"/>
              </a:rPr>
              <a:t>TUJUAN</a:t>
            </a:r>
            <a:endParaRPr/>
          </a:p>
        </p:txBody>
      </p:sp>
      <p:sp>
        <p:nvSpPr>
          <p:cNvPr id="118" name="Google Shape;118;p4"/>
          <p:cNvSpPr txBox="1"/>
          <p:nvPr/>
        </p:nvSpPr>
        <p:spPr>
          <a:xfrm>
            <a:off x="1198821" y="3487216"/>
            <a:ext cx="16070004" cy="4874260"/>
          </a:xfrm>
          <a:prstGeom prst="rect">
            <a:avLst/>
          </a:prstGeom>
          <a:noFill/>
          <a:ln>
            <a:noFill/>
          </a:ln>
        </p:spPr>
        <p:txBody>
          <a:bodyPr anchorCtr="0" anchor="t" bIns="0" lIns="0" spcFirstLastPara="1" rIns="0" wrap="square" tIns="0">
            <a:spAutoFit/>
          </a:bodyPr>
          <a:lstStyle/>
          <a:p>
            <a:pPr indent="0" lvl="0" marL="0" marR="0" rtl="0" algn="ctr">
              <a:lnSpc>
                <a:spcPct val="24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334644" lvl="1" marL="669289" marR="0" rtl="0" algn="ctr">
              <a:lnSpc>
                <a:spcPct val="140012"/>
              </a:lnSpc>
              <a:spcBef>
                <a:spcPts val="0"/>
              </a:spcBef>
              <a:spcAft>
                <a:spcPts val="0"/>
              </a:spcAft>
              <a:buClr>
                <a:srgbClr val="2E0031"/>
              </a:buClr>
              <a:buSzPts val="3099"/>
              <a:buFont typeface="Tomorrow"/>
              <a:buAutoNum type="arabicPeriod"/>
            </a:pPr>
            <a:r>
              <a:rPr b="0" i="0" lang="en-US" sz="3099" u="none" cap="none" strike="noStrike">
                <a:solidFill>
                  <a:srgbClr val="2E0031"/>
                </a:solidFill>
                <a:latin typeface="Tomorrow"/>
                <a:ea typeface="Tomorrow"/>
                <a:cs typeface="Tomorrow"/>
                <a:sym typeface="Tomorrow"/>
              </a:rPr>
              <a:t>Untuk mengukur dan membandingkan secara kuantitatif metrik kinerja klasifikasi (Akurasi, Presisi, Recall, dan F1-Score) dari algoritma ELM, SVM, dan MLP dalam prediksi status Diabetes .</a:t>
            </a:r>
            <a:endParaRPr/>
          </a:p>
          <a:p>
            <a:pPr indent="-334644" lvl="1" marL="669289" marR="0" rtl="0" algn="ctr">
              <a:lnSpc>
                <a:spcPct val="140012"/>
              </a:lnSpc>
              <a:spcBef>
                <a:spcPts val="0"/>
              </a:spcBef>
              <a:spcAft>
                <a:spcPts val="0"/>
              </a:spcAft>
              <a:buClr>
                <a:srgbClr val="2E0031"/>
              </a:buClr>
              <a:buSzPts val="3099"/>
              <a:buFont typeface="Tomorrow"/>
              <a:buAutoNum type="arabicPeriod"/>
            </a:pPr>
            <a:r>
              <a:rPr b="0" i="0" lang="en-US" sz="3099" u="none" cap="none" strike="noStrike">
                <a:solidFill>
                  <a:srgbClr val="2E0031"/>
                </a:solidFill>
                <a:latin typeface="Tomorrow"/>
                <a:ea typeface="Tomorrow"/>
                <a:cs typeface="Tomorrow"/>
                <a:sym typeface="Tomorrow"/>
              </a:rPr>
              <a:t>Untuk menganalisis dan membandingkan efisiensi komputasi (berdasarkan waktu pelatihan model) dari ELM, SVM, dan MLP.</a:t>
            </a:r>
            <a:endParaRPr/>
          </a:p>
          <a:p>
            <a:pPr indent="-334644" lvl="1" marL="669289" marR="0" rtl="0" algn="ctr">
              <a:lnSpc>
                <a:spcPct val="140012"/>
              </a:lnSpc>
              <a:spcBef>
                <a:spcPts val="0"/>
              </a:spcBef>
              <a:spcAft>
                <a:spcPts val="0"/>
              </a:spcAft>
              <a:buClr>
                <a:srgbClr val="2E0031"/>
              </a:buClr>
              <a:buSzPts val="3099"/>
              <a:buFont typeface="Tomorrow"/>
              <a:buAutoNum type="arabicPeriod"/>
            </a:pPr>
            <a:r>
              <a:rPr b="0" i="0" lang="en-US" sz="3099" u="none" cap="none" strike="noStrike">
                <a:solidFill>
                  <a:srgbClr val="2E0031"/>
                </a:solidFill>
                <a:latin typeface="Tomorrow"/>
                <a:ea typeface="Tomorrow"/>
                <a:cs typeface="Tomorrow"/>
                <a:sym typeface="Tomorrow"/>
              </a:rPr>
              <a:t>Untuk menentukan dan merekomendasikan model Machine Learning yang paling optimal di antara ELM, SVM, dan MLP, </a:t>
            </a:r>
            <a:endParaRPr/>
          </a:p>
          <a:p>
            <a:pPr indent="0" lvl="0" marL="0" marR="0" rtl="0" algn="ctr">
              <a:lnSpc>
                <a:spcPct val="140012"/>
              </a:lnSpc>
              <a:spcBef>
                <a:spcPts val="0"/>
              </a:spcBef>
              <a:spcAft>
                <a:spcPts val="0"/>
              </a:spcAft>
              <a:buNone/>
            </a:pPr>
            <a:r>
              <a:t/>
            </a:r>
            <a:endParaRPr b="0" i="0" sz="3099" u="none" cap="none" strike="noStrike">
              <a:solidFill>
                <a:srgbClr val="2E0031"/>
              </a:solidFill>
              <a:latin typeface="Tomorrow"/>
              <a:ea typeface="Tomorrow"/>
              <a:cs typeface="Tomorrow"/>
              <a:sym typeface="Tomorro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24" name="Google Shape;124;p5"/>
          <p:cNvSpPr/>
          <p:nvPr/>
        </p:nvSpPr>
        <p:spPr>
          <a:xfrm>
            <a:off x="7475565" y="2368950"/>
            <a:ext cx="8687301" cy="7407899"/>
          </a:xfrm>
          <a:custGeom>
            <a:rect b="b" l="l" r="r" t="t"/>
            <a:pathLst>
              <a:path extrusionOk="0" h="7407899" w="8687301">
                <a:moveTo>
                  <a:pt x="0" y="0"/>
                </a:moveTo>
                <a:lnTo>
                  <a:pt x="8687301" y="0"/>
                </a:lnTo>
                <a:lnTo>
                  <a:pt x="8687301" y="7407899"/>
                </a:lnTo>
                <a:lnTo>
                  <a:pt x="0" y="7407899"/>
                </a:lnTo>
                <a:lnTo>
                  <a:pt x="0" y="0"/>
                </a:lnTo>
                <a:close/>
              </a:path>
            </a:pathLst>
          </a:custGeom>
          <a:blipFill rotWithShape="1">
            <a:blip r:embed="rId4">
              <a:alphaModFix/>
            </a:blip>
            <a:stretch>
              <a:fillRect b="0" l="0" r="0" t="0"/>
            </a:stretch>
          </a:blipFill>
          <a:ln>
            <a:noFill/>
          </a:ln>
        </p:spPr>
      </p:sp>
      <p:grpSp>
        <p:nvGrpSpPr>
          <p:cNvPr id="125" name="Google Shape;125;p5"/>
          <p:cNvGrpSpPr/>
          <p:nvPr/>
        </p:nvGrpSpPr>
        <p:grpSpPr>
          <a:xfrm>
            <a:off x="147331" y="3365202"/>
            <a:ext cx="6082714" cy="5642987"/>
            <a:chOff x="0" y="-38100"/>
            <a:chExt cx="1602021" cy="1486209"/>
          </a:xfrm>
        </p:grpSpPr>
        <p:sp>
          <p:nvSpPr>
            <p:cNvPr id="126" name="Google Shape;126;p5"/>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8" name="Google Shape;128;p5"/>
          <p:cNvSpPr txBox="1"/>
          <p:nvPr/>
        </p:nvSpPr>
        <p:spPr>
          <a:xfrm>
            <a:off x="2146176" y="520025"/>
            <a:ext cx="9036600" cy="2316600"/>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129" name="Google Shape;129;p5"/>
          <p:cNvSpPr txBox="1"/>
          <p:nvPr/>
        </p:nvSpPr>
        <p:spPr>
          <a:xfrm>
            <a:off x="8263090" y="3679893"/>
            <a:ext cx="6990787" cy="55714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None/>
            </a:pPr>
            <a:r>
              <a:rPr b="0" i="0" lang="en-US" sz="2299" u="none" cap="none" strike="noStrike">
                <a:solidFill>
                  <a:srgbClr val="2E0031"/>
                </a:solidFill>
                <a:latin typeface="Tomorrow"/>
                <a:ea typeface="Tomorrow"/>
                <a:cs typeface="Tomorrow"/>
                <a:sym typeface="Tomorrow"/>
              </a:rPr>
              <a:t>Jaringan saraf feed-forward dengan satu lapis tersembunyi. </a:t>
            </a:r>
            <a:endParaRPr/>
          </a:p>
          <a:p>
            <a:pPr indent="0" lvl="0" marL="0" marR="0" rtl="0" algn="l">
              <a:lnSpc>
                <a:spcPct val="130013"/>
              </a:lnSpc>
              <a:spcBef>
                <a:spcPts val="0"/>
              </a:spcBef>
              <a:spcAft>
                <a:spcPts val="0"/>
              </a:spcAft>
              <a:buNone/>
            </a:pPr>
            <a:r>
              <a:t/>
            </a:r>
            <a:endParaRPr b="0" i="0" sz="2299" u="none" cap="none" strike="noStrike">
              <a:solidFill>
                <a:srgbClr val="2E0031"/>
              </a:solidFill>
              <a:latin typeface="Tomorrow"/>
              <a:ea typeface="Tomorrow"/>
              <a:cs typeface="Tomorrow"/>
              <a:sym typeface="Tomorrow"/>
            </a:endParaRPr>
          </a:p>
          <a:p>
            <a:pPr indent="0" lvl="0" marL="0" marR="0" rtl="0" algn="l">
              <a:lnSpc>
                <a:spcPct val="130013"/>
              </a:lnSpc>
              <a:spcBef>
                <a:spcPts val="0"/>
              </a:spcBef>
              <a:spcAft>
                <a:spcPts val="0"/>
              </a:spcAft>
              <a:buNone/>
            </a:pPr>
            <a:r>
              <a:rPr b="0" i="0" lang="en-US" sz="2299" u="none" cap="none" strike="noStrike">
                <a:solidFill>
                  <a:srgbClr val="2E0031"/>
                </a:solidFill>
                <a:latin typeface="Tomorrow"/>
                <a:ea typeface="Tomorrow"/>
                <a:cs typeface="Tomorrow"/>
                <a:sym typeface="Tomorrow"/>
              </a:rPr>
              <a:t>Kelebihan : </a:t>
            </a:r>
            <a:endParaRPr/>
          </a:p>
          <a:p>
            <a:pPr indent="-248284" lvl="1" marL="496569" marR="0" rtl="0" algn="l">
              <a:lnSpc>
                <a:spcPct val="130013"/>
              </a:lnSpc>
              <a:spcBef>
                <a:spcPts val="0"/>
              </a:spcBef>
              <a:spcAft>
                <a:spcPts val="0"/>
              </a:spcAft>
              <a:buClr>
                <a:srgbClr val="2E0031"/>
              </a:buClr>
              <a:buSzPts val="2299"/>
              <a:buFont typeface="Tomorrow"/>
              <a:buAutoNum type="arabicPeriod"/>
            </a:pPr>
            <a:r>
              <a:rPr b="0" i="0" lang="en-US" sz="2299" u="none" cap="none" strike="noStrike">
                <a:solidFill>
                  <a:srgbClr val="2E0031"/>
                </a:solidFill>
                <a:latin typeface="Tomorrow"/>
                <a:ea typeface="Tomorrow"/>
                <a:cs typeface="Tomorrow"/>
                <a:sym typeface="Tomorrow"/>
              </a:rPr>
              <a:t>Sangat cepat melatih model. </a:t>
            </a:r>
            <a:endParaRPr/>
          </a:p>
          <a:p>
            <a:pPr indent="-248284" lvl="1" marL="496569" marR="0" rtl="0" algn="l">
              <a:lnSpc>
                <a:spcPct val="130013"/>
              </a:lnSpc>
              <a:spcBef>
                <a:spcPts val="0"/>
              </a:spcBef>
              <a:spcAft>
                <a:spcPts val="0"/>
              </a:spcAft>
              <a:buClr>
                <a:srgbClr val="2E0031"/>
              </a:buClr>
              <a:buSzPts val="2299"/>
              <a:buFont typeface="Tomorrow"/>
              <a:buAutoNum type="arabicPeriod"/>
            </a:pPr>
            <a:r>
              <a:rPr b="0" i="0" lang="en-US" sz="2299" u="none" cap="none" strike="noStrike">
                <a:solidFill>
                  <a:srgbClr val="2E0031"/>
                </a:solidFill>
                <a:latin typeface="Tomorrow"/>
                <a:ea typeface="Tomorrow"/>
                <a:cs typeface="Tomorrow"/>
                <a:sym typeface="Tomorrow"/>
              </a:rPr>
              <a:t>Memiliki sedikit hyperparameter.</a:t>
            </a:r>
            <a:endParaRPr/>
          </a:p>
          <a:p>
            <a:pPr indent="0" lvl="0" marL="0" marR="0" rtl="0" algn="l">
              <a:lnSpc>
                <a:spcPct val="130013"/>
              </a:lnSpc>
              <a:spcBef>
                <a:spcPts val="0"/>
              </a:spcBef>
              <a:spcAft>
                <a:spcPts val="0"/>
              </a:spcAft>
              <a:buNone/>
            </a:pPr>
            <a:r>
              <a:t/>
            </a:r>
            <a:endParaRPr b="0" i="0" sz="2299" u="none" cap="none" strike="noStrike">
              <a:solidFill>
                <a:srgbClr val="2E0031"/>
              </a:solidFill>
              <a:latin typeface="Tomorrow"/>
              <a:ea typeface="Tomorrow"/>
              <a:cs typeface="Tomorrow"/>
              <a:sym typeface="Tomorrow"/>
            </a:endParaRPr>
          </a:p>
          <a:p>
            <a:pPr indent="0" lvl="0" marL="0" marR="0" rtl="0" algn="l">
              <a:lnSpc>
                <a:spcPct val="130013"/>
              </a:lnSpc>
              <a:spcBef>
                <a:spcPts val="0"/>
              </a:spcBef>
              <a:spcAft>
                <a:spcPts val="0"/>
              </a:spcAft>
              <a:buNone/>
            </a:pPr>
            <a:r>
              <a:rPr b="0" i="0" lang="en-US" sz="2299" u="none" cap="none" strike="noStrike">
                <a:solidFill>
                  <a:srgbClr val="2E0031"/>
                </a:solidFill>
                <a:latin typeface="Tomorrow"/>
                <a:ea typeface="Tomorrow"/>
                <a:cs typeface="Tomorrow"/>
                <a:sym typeface="Tomorrow"/>
              </a:rPr>
              <a:t>Kekurangan :</a:t>
            </a:r>
            <a:endParaRPr/>
          </a:p>
          <a:p>
            <a:pPr indent="-248284" lvl="1" marL="496569" marR="0" rtl="0" algn="l">
              <a:lnSpc>
                <a:spcPct val="130013"/>
              </a:lnSpc>
              <a:spcBef>
                <a:spcPts val="0"/>
              </a:spcBef>
              <a:spcAft>
                <a:spcPts val="0"/>
              </a:spcAft>
              <a:buClr>
                <a:srgbClr val="2E0031"/>
              </a:buClr>
              <a:buSzPts val="2299"/>
              <a:buFont typeface="Tomorrow"/>
              <a:buAutoNum type="arabicPeriod"/>
            </a:pPr>
            <a:r>
              <a:rPr b="0" i="0" lang="en-US" sz="2299" u="none" cap="none" strike="noStrike">
                <a:solidFill>
                  <a:srgbClr val="2E0031"/>
                </a:solidFill>
                <a:latin typeface="Tomorrow"/>
                <a:ea typeface="Tomorrow"/>
                <a:cs typeface="Tomorrow"/>
                <a:sym typeface="Tomorrow"/>
              </a:rPr>
              <a:t> Hasil yang dapat berubah-ubah.</a:t>
            </a:r>
            <a:endParaRPr/>
          </a:p>
          <a:p>
            <a:pPr indent="-248284" lvl="1" marL="496569" marR="0" rtl="0" algn="l">
              <a:lnSpc>
                <a:spcPct val="130013"/>
              </a:lnSpc>
              <a:spcBef>
                <a:spcPts val="0"/>
              </a:spcBef>
              <a:spcAft>
                <a:spcPts val="0"/>
              </a:spcAft>
              <a:buClr>
                <a:srgbClr val="2E0031"/>
              </a:buClr>
              <a:buSzPts val="2299"/>
              <a:buFont typeface="Tomorrow"/>
              <a:buAutoNum type="arabicPeriod"/>
            </a:pPr>
            <a:r>
              <a:rPr b="0" i="0" lang="en-US" sz="2299" u="none" cap="none" strike="noStrike">
                <a:solidFill>
                  <a:srgbClr val="2E0031"/>
                </a:solidFill>
                <a:latin typeface="Tomorrow"/>
                <a:ea typeface="Tomorrow"/>
                <a:cs typeface="Tomorrow"/>
                <a:sym typeface="Tomorrow"/>
              </a:rPr>
              <a:t>Sensitif terhadap jumlah neuron. </a:t>
            </a:r>
            <a:endParaRPr/>
          </a:p>
          <a:p>
            <a:pPr indent="0" lvl="0" marL="0" marR="0" rtl="0" algn="l">
              <a:lnSpc>
                <a:spcPct val="130013"/>
              </a:lnSpc>
              <a:spcBef>
                <a:spcPts val="0"/>
              </a:spcBef>
              <a:spcAft>
                <a:spcPts val="0"/>
              </a:spcAft>
              <a:buNone/>
            </a:pPr>
            <a:r>
              <a:t/>
            </a:r>
            <a:endParaRPr b="0" i="0" sz="2299" u="none" cap="none" strike="noStrike">
              <a:solidFill>
                <a:srgbClr val="2E0031"/>
              </a:solidFill>
              <a:latin typeface="Tomorrow"/>
              <a:ea typeface="Tomorrow"/>
              <a:cs typeface="Tomorrow"/>
              <a:sym typeface="Tomorrow"/>
            </a:endParaRPr>
          </a:p>
          <a:p>
            <a:pPr indent="0" lvl="0" marL="0" marR="0" rtl="0" algn="l">
              <a:lnSpc>
                <a:spcPct val="130013"/>
              </a:lnSpc>
              <a:spcBef>
                <a:spcPts val="0"/>
              </a:spcBef>
              <a:spcAft>
                <a:spcPts val="0"/>
              </a:spcAft>
              <a:buNone/>
            </a:pPr>
            <a:r>
              <a:rPr b="0" i="0" lang="en-US" sz="2299" u="none" cap="none" strike="noStrike">
                <a:solidFill>
                  <a:srgbClr val="2E0031"/>
                </a:solidFill>
                <a:latin typeface="Tomorrow"/>
                <a:ea typeface="Tomorrow"/>
                <a:cs typeface="Tomorrow"/>
                <a:sym typeface="Tomorrow"/>
              </a:rPr>
              <a:t>Beberapa penelitian melaporkan waktu pelatihan sangat rendah dan akurasi yang baik, yang sejalan dengan tujuan  project ini.</a:t>
            </a:r>
            <a:endParaRPr/>
          </a:p>
          <a:p>
            <a:pPr indent="0" lvl="0" marL="0" marR="0" rtl="0" algn="l">
              <a:lnSpc>
                <a:spcPct val="130013"/>
              </a:lnSpc>
              <a:spcBef>
                <a:spcPts val="0"/>
              </a:spcBef>
              <a:spcAft>
                <a:spcPts val="0"/>
              </a:spcAft>
              <a:buNone/>
            </a:pPr>
            <a:r>
              <a:t/>
            </a:r>
            <a:endParaRPr b="0" i="0" sz="2299" u="none" cap="none" strike="noStrike">
              <a:solidFill>
                <a:srgbClr val="2E0031"/>
              </a:solidFill>
              <a:latin typeface="Tomorrow"/>
              <a:ea typeface="Tomorrow"/>
              <a:cs typeface="Tomorrow"/>
              <a:sym typeface="Tomorrow"/>
            </a:endParaRPr>
          </a:p>
        </p:txBody>
      </p:sp>
      <p:sp>
        <p:nvSpPr>
          <p:cNvPr id="130" name="Google Shape;130;p5"/>
          <p:cNvSpPr txBox="1"/>
          <p:nvPr/>
        </p:nvSpPr>
        <p:spPr>
          <a:xfrm>
            <a:off x="635603" y="3839281"/>
            <a:ext cx="4938300" cy="5206500"/>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Extreme Learning Machine (ELM)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36" name="Google Shape;136;p6"/>
          <p:cNvSpPr/>
          <p:nvPr/>
        </p:nvSpPr>
        <p:spPr>
          <a:xfrm>
            <a:off x="7475565" y="2368950"/>
            <a:ext cx="8687301" cy="7407899"/>
          </a:xfrm>
          <a:custGeom>
            <a:rect b="b" l="l" r="r" t="t"/>
            <a:pathLst>
              <a:path extrusionOk="0" h="7407899" w="8687301">
                <a:moveTo>
                  <a:pt x="0" y="0"/>
                </a:moveTo>
                <a:lnTo>
                  <a:pt x="8687301" y="0"/>
                </a:lnTo>
                <a:lnTo>
                  <a:pt x="8687301" y="7407899"/>
                </a:lnTo>
                <a:lnTo>
                  <a:pt x="0" y="7407899"/>
                </a:lnTo>
                <a:lnTo>
                  <a:pt x="0" y="0"/>
                </a:lnTo>
                <a:close/>
              </a:path>
            </a:pathLst>
          </a:custGeom>
          <a:blipFill rotWithShape="1">
            <a:blip r:embed="rId4">
              <a:alphaModFix/>
            </a:blip>
            <a:stretch>
              <a:fillRect b="0" l="0" r="0" t="0"/>
            </a:stretch>
          </a:blipFill>
          <a:ln>
            <a:noFill/>
          </a:ln>
        </p:spPr>
      </p:sp>
      <p:grpSp>
        <p:nvGrpSpPr>
          <p:cNvPr id="137" name="Google Shape;137;p6"/>
          <p:cNvGrpSpPr/>
          <p:nvPr/>
        </p:nvGrpSpPr>
        <p:grpSpPr>
          <a:xfrm>
            <a:off x="-804394" y="3407203"/>
            <a:ext cx="6082673" cy="5642951"/>
            <a:chOff x="0" y="-38100"/>
            <a:chExt cx="1602021" cy="1486209"/>
          </a:xfrm>
        </p:grpSpPr>
        <p:sp>
          <p:nvSpPr>
            <p:cNvPr id="138" name="Google Shape;138;p6"/>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0" name="Google Shape;140;p6"/>
          <p:cNvSpPr txBox="1"/>
          <p:nvPr/>
        </p:nvSpPr>
        <p:spPr>
          <a:xfrm>
            <a:off x="2146173" y="520031"/>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141" name="Google Shape;141;p6"/>
          <p:cNvSpPr txBox="1"/>
          <p:nvPr/>
        </p:nvSpPr>
        <p:spPr>
          <a:xfrm>
            <a:off x="8121760" y="4456180"/>
            <a:ext cx="6990787" cy="3886200"/>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b="0" i="0" lang="en-US" sz="2999" u="none" cap="none" strike="noStrike">
                <a:solidFill>
                  <a:srgbClr val="2E0031"/>
                </a:solidFill>
                <a:latin typeface="Tomorrow"/>
                <a:ea typeface="Tomorrow"/>
                <a:cs typeface="Tomorrow"/>
                <a:sym typeface="Tomorrow"/>
              </a:rPr>
              <a:t>Parameter : </a:t>
            </a:r>
            <a:endParaRPr/>
          </a:p>
          <a:p>
            <a:pPr indent="0" lvl="0" marL="0" marR="0" rtl="0" algn="l">
              <a:lnSpc>
                <a:spcPct val="130010"/>
              </a:lnSpc>
              <a:spcBef>
                <a:spcPts val="0"/>
              </a:spcBef>
              <a:spcAft>
                <a:spcPts val="0"/>
              </a:spcAft>
              <a:buNone/>
            </a:pPr>
            <a:r>
              <a:t/>
            </a:r>
            <a:endParaRPr b="0" i="0" sz="2999" u="none" cap="none" strike="noStrike">
              <a:solidFill>
                <a:srgbClr val="2E0031"/>
              </a:solidFill>
              <a:latin typeface="Tomorrow"/>
              <a:ea typeface="Tomorrow"/>
              <a:cs typeface="Tomorrow"/>
              <a:sym typeface="Tomorrow"/>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Hidden neurons : 50, 100, 200</a:t>
            </a:r>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Activation Function : sigmoid, tanh</a:t>
            </a:r>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Input Neurons : 13 fitur</a:t>
            </a:r>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Output Neurons : 2 kelas</a:t>
            </a:r>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Scaling : StandartScaler</a:t>
            </a:r>
            <a:endParaRPr/>
          </a:p>
          <a:p>
            <a:pPr indent="0" lvl="0" marL="0" marR="0" rtl="0" algn="l">
              <a:lnSpc>
                <a:spcPct val="130010"/>
              </a:lnSpc>
              <a:spcBef>
                <a:spcPts val="0"/>
              </a:spcBef>
              <a:spcAft>
                <a:spcPts val="0"/>
              </a:spcAft>
              <a:buNone/>
            </a:pPr>
            <a:r>
              <a:t/>
            </a:r>
            <a:endParaRPr b="0" i="0" sz="2999" u="none" cap="none" strike="noStrike">
              <a:solidFill>
                <a:srgbClr val="2E0031"/>
              </a:solidFill>
              <a:latin typeface="Tomorrow"/>
              <a:ea typeface="Tomorrow"/>
              <a:cs typeface="Tomorrow"/>
              <a:sym typeface="Tomorrow"/>
            </a:endParaRPr>
          </a:p>
        </p:txBody>
      </p:sp>
      <p:sp>
        <p:nvSpPr>
          <p:cNvPr id="142" name="Google Shape;142;p6"/>
          <p:cNvSpPr txBox="1"/>
          <p:nvPr/>
        </p:nvSpPr>
        <p:spPr>
          <a:xfrm>
            <a:off x="-232147" y="4194243"/>
            <a:ext cx="4938179"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Extreme Learning Machine (ELM)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148" name="Google Shape;148;p7"/>
          <p:cNvGrpSpPr/>
          <p:nvPr/>
        </p:nvGrpSpPr>
        <p:grpSpPr>
          <a:xfrm>
            <a:off x="-804394" y="3407203"/>
            <a:ext cx="6082673" cy="5642951"/>
            <a:chOff x="0" y="-38100"/>
            <a:chExt cx="1602021" cy="1486209"/>
          </a:xfrm>
        </p:grpSpPr>
        <p:sp>
          <p:nvSpPr>
            <p:cNvPr id="149" name="Google Shape;149;p7"/>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1" name="Google Shape;151;p7"/>
          <p:cNvSpPr/>
          <p:nvPr/>
        </p:nvSpPr>
        <p:spPr>
          <a:xfrm>
            <a:off x="6656680" y="3698949"/>
            <a:ext cx="10427166" cy="5204121"/>
          </a:xfrm>
          <a:custGeom>
            <a:rect b="b" l="l" r="r" t="t"/>
            <a:pathLst>
              <a:path extrusionOk="0" h="5204121" w="10427166">
                <a:moveTo>
                  <a:pt x="0" y="0"/>
                </a:moveTo>
                <a:lnTo>
                  <a:pt x="10427166" y="0"/>
                </a:lnTo>
                <a:lnTo>
                  <a:pt x="10427166" y="5204121"/>
                </a:lnTo>
                <a:lnTo>
                  <a:pt x="0" y="5204121"/>
                </a:lnTo>
                <a:lnTo>
                  <a:pt x="0" y="0"/>
                </a:lnTo>
                <a:close/>
              </a:path>
            </a:pathLst>
          </a:custGeom>
          <a:blipFill rotWithShape="1">
            <a:blip r:embed="rId4">
              <a:alphaModFix/>
            </a:blip>
            <a:stretch>
              <a:fillRect b="0" l="0" r="0" t="0"/>
            </a:stretch>
          </a:blipFill>
          <a:ln>
            <a:noFill/>
          </a:ln>
        </p:spPr>
      </p:sp>
      <p:sp>
        <p:nvSpPr>
          <p:cNvPr id="152" name="Google Shape;152;p7"/>
          <p:cNvSpPr txBox="1"/>
          <p:nvPr/>
        </p:nvSpPr>
        <p:spPr>
          <a:xfrm>
            <a:off x="2146173" y="520031"/>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153" name="Google Shape;153;p7"/>
          <p:cNvSpPr txBox="1"/>
          <p:nvPr/>
        </p:nvSpPr>
        <p:spPr>
          <a:xfrm>
            <a:off x="-232147" y="4194243"/>
            <a:ext cx="4938179"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Extreme Learning Machine (ELM)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159" name="Google Shape;159;p8"/>
          <p:cNvGrpSpPr/>
          <p:nvPr/>
        </p:nvGrpSpPr>
        <p:grpSpPr>
          <a:xfrm>
            <a:off x="-804394" y="3407203"/>
            <a:ext cx="6082673" cy="5642951"/>
            <a:chOff x="0" y="-38100"/>
            <a:chExt cx="1602021" cy="1486209"/>
          </a:xfrm>
        </p:grpSpPr>
        <p:sp>
          <p:nvSpPr>
            <p:cNvPr id="160" name="Google Shape;160;p8"/>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2" name="Google Shape;162;p8"/>
          <p:cNvSpPr/>
          <p:nvPr/>
        </p:nvSpPr>
        <p:spPr>
          <a:xfrm>
            <a:off x="7062113" y="2275956"/>
            <a:ext cx="9272053" cy="7469154"/>
          </a:xfrm>
          <a:custGeom>
            <a:rect b="b" l="l" r="r" t="t"/>
            <a:pathLst>
              <a:path extrusionOk="0" h="7469154" w="9272053">
                <a:moveTo>
                  <a:pt x="0" y="0"/>
                </a:moveTo>
                <a:lnTo>
                  <a:pt x="9272053" y="0"/>
                </a:lnTo>
                <a:lnTo>
                  <a:pt x="9272053" y="7469154"/>
                </a:lnTo>
                <a:lnTo>
                  <a:pt x="0" y="7469154"/>
                </a:lnTo>
                <a:lnTo>
                  <a:pt x="0" y="0"/>
                </a:lnTo>
                <a:close/>
              </a:path>
            </a:pathLst>
          </a:custGeom>
          <a:blipFill rotWithShape="1">
            <a:blip r:embed="rId4">
              <a:alphaModFix/>
            </a:blip>
            <a:stretch>
              <a:fillRect b="0" l="0" r="0" t="0"/>
            </a:stretch>
          </a:blipFill>
          <a:ln>
            <a:noFill/>
          </a:ln>
        </p:spPr>
      </p:sp>
      <p:sp>
        <p:nvSpPr>
          <p:cNvPr id="163" name="Google Shape;163;p8"/>
          <p:cNvSpPr txBox="1"/>
          <p:nvPr/>
        </p:nvSpPr>
        <p:spPr>
          <a:xfrm>
            <a:off x="2146173" y="520031"/>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164" name="Google Shape;164;p8"/>
          <p:cNvSpPr txBox="1"/>
          <p:nvPr/>
        </p:nvSpPr>
        <p:spPr>
          <a:xfrm>
            <a:off x="-232147" y="4194243"/>
            <a:ext cx="4938179"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Extreme Learning Machine (ELM)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70" name="Google Shape;170;p9"/>
          <p:cNvSpPr/>
          <p:nvPr/>
        </p:nvSpPr>
        <p:spPr>
          <a:xfrm>
            <a:off x="795017" y="2441829"/>
            <a:ext cx="8687301" cy="7407899"/>
          </a:xfrm>
          <a:custGeom>
            <a:rect b="b" l="l" r="r" t="t"/>
            <a:pathLst>
              <a:path extrusionOk="0" h="7407899" w="8687301">
                <a:moveTo>
                  <a:pt x="0" y="0"/>
                </a:moveTo>
                <a:lnTo>
                  <a:pt x="8687301" y="0"/>
                </a:lnTo>
                <a:lnTo>
                  <a:pt x="8687301" y="7407899"/>
                </a:lnTo>
                <a:lnTo>
                  <a:pt x="0" y="7407899"/>
                </a:lnTo>
                <a:lnTo>
                  <a:pt x="0" y="0"/>
                </a:lnTo>
                <a:close/>
              </a:path>
            </a:pathLst>
          </a:custGeom>
          <a:blipFill rotWithShape="1">
            <a:blip r:embed="rId4">
              <a:alphaModFix/>
            </a:blip>
            <a:stretch>
              <a:fillRect b="0" l="0" r="0" t="0"/>
            </a:stretch>
          </a:blipFill>
          <a:ln>
            <a:noFill/>
          </a:ln>
        </p:spPr>
      </p:sp>
      <p:grpSp>
        <p:nvGrpSpPr>
          <p:cNvPr id="171" name="Google Shape;171;p9"/>
          <p:cNvGrpSpPr/>
          <p:nvPr/>
        </p:nvGrpSpPr>
        <p:grpSpPr>
          <a:xfrm>
            <a:off x="11176627" y="3067103"/>
            <a:ext cx="6082673" cy="5642951"/>
            <a:chOff x="0" y="-38100"/>
            <a:chExt cx="1602021" cy="1486209"/>
          </a:xfrm>
        </p:grpSpPr>
        <p:sp>
          <p:nvSpPr>
            <p:cNvPr id="172" name="Google Shape;172;p9"/>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9"/>
          <p:cNvSpPr txBox="1"/>
          <p:nvPr/>
        </p:nvSpPr>
        <p:spPr>
          <a:xfrm>
            <a:off x="7563491" y="349980"/>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175" name="Google Shape;175;p9"/>
          <p:cNvSpPr txBox="1"/>
          <p:nvPr/>
        </p:nvSpPr>
        <p:spPr>
          <a:xfrm>
            <a:off x="1582542" y="3752771"/>
            <a:ext cx="6990787" cy="55714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None/>
            </a:pPr>
            <a:r>
              <a:rPr b="0" i="0" lang="en-US" sz="2299" u="none" cap="none" strike="noStrike">
                <a:solidFill>
                  <a:srgbClr val="2E0031"/>
                </a:solidFill>
                <a:latin typeface="Tomorrow"/>
                <a:ea typeface="Tomorrow"/>
                <a:cs typeface="Tomorrow"/>
                <a:sym typeface="Tomorrow"/>
              </a:rPr>
              <a:t>Mencari garis yang memisahkan dua kelas dengan margin maksimal. </a:t>
            </a:r>
            <a:endParaRPr/>
          </a:p>
          <a:p>
            <a:pPr indent="0" lvl="0" marL="0" marR="0" rtl="0" algn="l">
              <a:lnSpc>
                <a:spcPct val="130013"/>
              </a:lnSpc>
              <a:spcBef>
                <a:spcPts val="0"/>
              </a:spcBef>
              <a:spcAft>
                <a:spcPts val="0"/>
              </a:spcAft>
              <a:buNone/>
            </a:pPr>
            <a:r>
              <a:t/>
            </a:r>
            <a:endParaRPr b="0" i="0" sz="2299" u="none" cap="none" strike="noStrike">
              <a:solidFill>
                <a:srgbClr val="2E0031"/>
              </a:solidFill>
              <a:latin typeface="Tomorrow"/>
              <a:ea typeface="Tomorrow"/>
              <a:cs typeface="Tomorrow"/>
              <a:sym typeface="Tomorrow"/>
            </a:endParaRPr>
          </a:p>
          <a:p>
            <a:pPr indent="0" lvl="0" marL="0" marR="0" rtl="0" algn="l">
              <a:lnSpc>
                <a:spcPct val="130013"/>
              </a:lnSpc>
              <a:spcBef>
                <a:spcPts val="0"/>
              </a:spcBef>
              <a:spcAft>
                <a:spcPts val="0"/>
              </a:spcAft>
              <a:buNone/>
            </a:pPr>
            <a:r>
              <a:rPr b="0" i="0" lang="en-US" sz="2299" u="none" cap="none" strike="noStrike">
                <a:solidFill>
                  <a:srgbClr val="2E0031"/>
                </a:solidFill>
                <a:latin typeface="Tomorrow"/>
                <a:ea typeface="Tomorrow"/>
                <a:cs typeface="Tomorrow"/>
                <a:sym typeface="Tomorrow"/>
              </a:rPr>
              <a:t>Kelebihan : </a:t>
            </a:r>
            <a:endParaRPr/>
          </a:p>
          <a:p>
            <a:pPr indent="-248284" lvl="1" marL="496569" marR="0" rtl="0" algn="l">
              <a:lnSpc>
                <a:spcPct val="130013"/>
              </a:lnSpc>
              <a:spcBef>
                <a:spcPts val="0"/>
              </a:spcBef>
              <a:spcAft>
                <a:spcPts val="0"/>
              </a:spcAft>
              <a:buClr>
                <a:srgbClr val="2E0031"/>
              </a:buClr>
              <a:buSzPts val="2299"/>
              <a:buFont typeface="Tomorrow"/>
              <a:buAutoNum type="arabicPeriod"/>
            </a:pPr>
            <a:r>
              <a:rPr b="0" i="0" lang="en-US" sz="2299" u="none" cap="none" strike="noStrike">
                <a:solidFill>
                  <a:srgbClr val="2E0031"/>
                </a:solidFill>
                <a:latin typeface="Tomorrow"/>
                <a:ea typeface="Tomorrow"/>
                <a:cs typeface="Tomorrow"/>
                <a:sym typeface="Tomorrow"/>
              </a:rPr>
              <a:t>Cocok untuk dataset yang kompleks.</a:t>
            </a:r>
            <a:endParaRPr/>
          </a:p>
          <a:p>
            <a:pPr indent="-248284" lvl="1" marL="496569" marR="0" rtl="0" algn="l">
              <a:lnSpc>
                <a:spcPct val="130013"/>
              </a:lnSpc>
              <a:spcBef>
                <a:spcPts val="0"/>
              </a:spcBef>
              <a:spcAft>
                <a:spcPts val="0"/>
              </a:spcAft>
              <a:buClr>
                <a:srgbClr val="2E0031"/>
              </a:buClr>
              <a:buSzPts val="2299"/>
              <a:buFont typeface="Tomorrow"/>
              <a:buAutoNum type="arabicPeriod"/>
            </a:pPr>
            <a:r>
              <a:rPr b="0" i="0" lang="en-US" sz="2299" u="none" cap="none" strike="noStrike">
                <a:solidFill>
                  <a:srgbClr val="2E0031"/>
                </a:solidFill>
                <a:latin typeface="Tomorrow"/>
                <a:ea typeface="Tomorrow"/>
                <a:cs typeface="Tomorrow"/>
                <a:sym typeface="Tomorrow"/>
              </a:rPr>
              <a:t>Akurasi yang bagus untuk dataset tabular.</a:t>
            </a:r>
            <a:endParaRPr/>
          </a:p>
          <a:p>
            <a:pPr indent="0" lvl="0" marL="0" marR="0" rtl="0" algn="l">
              <a:lnSpc>
                <a:spcPct val="130013"/>
              </a:lnSpc>
              <a:spcBef>
                <a:spcPts val="0"/>
              </a:spcBef>
              <a:spcAft>
                <a:spcPts val="0"/>
              </a:spcAft>
              <a:buNone/>
            </a:pPr>
            <a:r>
              <a:t/>
            </a:r>
            <a:endParaRPr b="0" i="0" sz="2299" u="none" cap="none" strike="noStrike">
              <a:solidFill>
                <a:srgbClr val="2E0031"/>
              </a:solidFill>
              <a:latin typeface="Tomorrow"/>
              <a:ea typeface="Tomorrow"/>
              <a:cs typeface="Tomorrow"/>
              <a:sym typeface="Tomorrow"/>
            </a:endParaRPr>
          </a:p>
          <a:p>
            <a:pPr indent="0" lvl="0" marL="0" marR="0" rtl="0" algn="l">
              <a:lnSpc>
                <a:spcPct val="130013"/>
              </a:lnSpc>
              <a:spcBef>
                <a:spcPts val="0"/>
              </a:spcBef>
              <a:spcAft>
                <a:spcPts val="0"/>
              </a:spcAft>
              <a:buNone/>
            </a:pPr>
            <a:r>
              <a:rPr b="0" i="0" lang="en-US" sz="2299" u="none" cap="none" strike="noStrike">
                <a:solidFill>
                  <a:srgbClr val="2E0031"/>
                </a:solidFill>
                <a:latin typeface="Tomorrow"/>
                <a:ea typeface="Tomorrow"/>
                <a:cs typeface="Tomorrow"/>
                <a:sym typeface="Tomorrow"/>
              </a:rPr>
              <a:t>Kekurangan :</a:t>
            </a:r>
            <a:endParaRPr/>
          </a:p>
          <a:p>
            <a:pPr indent="-248284" lvl="1" marL="496569" marR="0" rtl="0" algn="l">
              <a:lnSpc>
                <a:spcPct val="130013"/>
              </a:lnSpc>
              <a:spcBef>
                <a:spcPts val="0"/>
              </a:spcBef>
              <a:spcAft>
                <a:spcPts val="0"/>
              </a:spcAft>
              <a:buClr>
                <a:srgbClr val="2E0031"/>
              </a:buClr>
              <a:buSzPts val="2299"/>
              <a:buFont typeface="Tomorrow"/>
              <a:buAutoNum type="arabicPeriod"/>
            </a:pPr>
            <a:r>
              <a:rPr b="0" i="0" lang="en-US" sz="2299" u="none" cap="none" strike="noStrike">
                <a:solidFill>
                  <a:srgbClr val="2E0031"/>
                </a:solidFill>
                <a:latin typeface="Tomorrow"/>
                <a:ea typeface="Tomorrow"/>
                <a:cs typeface="Tomorrow"/>
                <a:sym typeface="Tomorrow"/>
              </a:rPr>
              <a:t> Harus melakukan scaling data.</a:t>
            </a:r>
            <a:endParaRPr/>
          </a:p>
          <a:p>
            <a:pPr indent="-248284" lvl="1" marL="496569" marR="0" rtl="0" algn="l">
              <a:lnSpc>
                <a:spcPct val="130013"/>
              </a:lnSpc>
              <a:spcBef>
                <a:spcPts val="0"/>
              </a:spcBef>
              <a:spcAft>
                <a:spcPts val="0"/>
              </a:spcAft>
              <a:buClr>
                <a:srgbClr val="2E0031"/>
              </a:buClr>
              <a:buSzPts val="2299"/>
              <a:buFont typeface="Tomorrow"/>
              <a:buAutoNum type="arabicPeriod"/>
            </a:pPr>
            <a:r>
              <a:rPr b="0" i="0" lang="en-US" sz="2299" u="none" cap="none" strike="noStrike">
                <a:solidFill>
                  <a:srgbClr val="2E0031"/>
                </a:solidFill>
                <a:latin typeface="Tomorrow"/>
                <a:ea typeface="Tomorrow"/>
                <a:cs typeface="Tomorrow"/>
                <a:sym typeface="Tomorrow"/>
              </a:rPr>
              <a:t>Dataset besar akan lambat dan berat.</a:t>
            </a:r>
            <a:endParaRPr/>
          </a:p>
          <a:p>
            <a:pPr indent="0" lvl="0" marL="0" marR="0" rtl="0" algn="l">
              <a:lnSpc>
                <a:spcPct val="130013"/>
              </a:lnSpc>
              <a:spcBef>
                <a:spcPts val="0"/>
              </a:spcBef>
              <a:spcAft>
                <a:spcPts val="0"/>
              </a:spcAft>
              <a:buNone/>
            </a:pPr>
            <a:r>
              <a:t/>
            </a:r>
            <a:endParaRPr b="0" i="0" sz="2299" u="none" cap="none" strike="noStrike">
              <a:solidFill>
                <a:srgbClr val="2E0031"/>
              </a:solidFill>
              <a:latin typeface="Tomorrow"/>
              <a:ea typeface="Tomorrow"/>
              <a:cs typeface="Tomorrow"/>
              <a:sym typeface="Tomorrow"/>
            </a:endParaRPr>
          </a:p>
          <a:p>
            <a:pPr indent="0" lvl="0" marL="0" marR="0" rtl="0" algn="l">
              <a:lnSpc>
                <a:spcPct val="130013"/>
              </a:lnSpc>
              <a:spcBef>
                <a:spcPts val="0"/>
              </a:spcBef>
              <a:spcAft>
                <a:spcPts val="0"/>
              </a:spcAft>
              <a:buNone/>
            </a:pPr>
            <a:r>
              <a:rPr b="0" i="0" lang="en-US" sz="2299" u="none" cap="none" strike="noStrike">
                <a:solidFill>
                  <a:srgbClr val="2E0031"/>
                </a:solidFill>
                <a:latin typeface="Tomorrow"/>
                <a:ea typeface="Tomorrow"/>
                <a:cs typeface="Tomorrow"/>
                <a:sym typeface="Tomorrow"/>
              </a:rPr>
              <a:t>Beberapa penelitian melaporkan performanya tinggi dan stabil, cocok untuk dataset kompleks, dan sering dijadikan metode pembanding. </a:t>
            </a:r>
            <a:endParaRPr/>
          </a:p>
          <a:p>
            <a:pPr indent="0" lvl="0" marL="0" marR="0" rtl="0" algn="l">
              <a:lnSpc>
                <a:spcPct val="130013"/>
              </a:lnSpc>
              <a:spcBef>
                <a:spcPts val="0"/>
              </a:spcBef>
              <a:spcAft>
                <a:spcPts val="0"/>
              </a:spcAft>
              <a:buNone/>
            </a:pPr>
            <a:r>
              <a:t/>
            </a:r>
            <a:endParaRPr b="0" i="0" sz="2299" u="none" cap="none" strike="noStrike">
              <a:solidFill>
                <a:srgbClr val="2E0031"/>
              </a:solidFill>
              <a:latin typeface="Tomorrow"/>
              <a:ea typeface="Tomorrow"/>
              <a:cs typeface="Tomorrow"/>
              <a:sym typeface="Tomorrow"/>
            </a:endParaRPr>
          </a:p>
        </p:txBody>
      </p:sp>
      <p:sp>
        <p:nvSpPr>
          <p:cNvPr id="176" name="Google Shape;176;p9"/>
          <p:cNvSpPr txBox="1"/>
          <p:nvPr/>
        </p:nvSpPr>
        <p:spPr>
          <a:xfrm>
            <a:off x="11541020" y="3921691"/>
            <a:ext cx="4938179"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Support Vector Machine (SVM)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82" name="Google Shape;182;p10"/>
          <p:cNvSpPr/>
          <p:nvPr/>
        </p:nvSpPr>
        <p:spPr>
          <a:xfrm>
            <a:off x="795017" y="2441829"/>
            <a:ext cx="8687301" cy="7407899"/>
          </a:xfrm>
          <a:custGeom>
            <a:rect b="b" l="l" r="r" t="t"/>
            <a:pathLst>
              <a:path extrusionOk="0" h="7407899" w="8687301">
                <a:moveTo>
                  <a:pt x="0" y="0"/>
                </a:moveTo>
                <a:lnTo>
                  <a:pt x="8687301" y="0"/>
                </a:lnTo>
                <a:lnTo>
                  <a:pt x="8687301" y="7407899"/>
                </a:lnTo>
                <a:lnTo>
                  <a:pt x="0" y="7407899"/>
                </a:lnTo>
                <a:lnTo>
                  <a:pt x="0" y="0"/>
                </a:lnTo>
                <a:close/>
              </a:path>
            </a:pathLst>
          </a:custGeom>
          <a:blipFill rotWithShape="1">
            <a:blip r:embed="rId4">
              <a:alphaModFix/>
            </a:blip>
            <a:stretch>
              <a:fillRect b="0" l="0" r="0" t="0"/>
            </a:stretch>
          </a:blipFill>
          <a:ln>
            <a:noFill/>
          </a:ln>
        </p:spPr>
      </p:sp>
      <p:grpSp>
        <p:nvGrpSpPr>
          <p:cNvPr id="183" name="Google Shape;183;p10"/>
          <p:cNvGrpSpPr/>
          <p:nvPr/>
        </p:nvGrpSpPr>
        <p:grpSpPr>
          <a:xfrm>
            <a:off x="11176627" y="3067103"/>
            <a:ext cx="6082673" cy="5642951"/>
            <a:chOff x="0" y="-38100"/>
            <a:chExt cx="1602021" cy="1486209"/>
          </a:xfrm>
        </p:grpSpPr>
        <p:sp>
          <p:nvSpPr>
            <p:cNvPr id="184" name="Google Shape;184;p10"/>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6" name="Google Shape;186;p10"/>
          <p:cNvSpPr txBox="1"/>
          <p:nvPr/>
        </p:nvSpPr>
        <p:spPr>
          <a:xfrm>
            <a:off x="7563491" y="349980"/>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187" name="Google Shape;187;p10"/>
          <p:cNvSpPr txBox="1"/>
          <p:nvPr/>
        </p:nvSpPr>
        <p:spPr>
          <a:xfrm>
            <a:off x="1643274" y="4296658"/>
            <a:ext cx="6990787" cy="3660140"/>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b="0" i="0" lang="en-US" sz="2799" u="none" cap="none" strike="noStrike">
                <a:solidFill>
                  <a:srgbClr val="2E0031"/>
                </a:solidFill>
                <a:latin typeface="Tomorrow"/>
                <a:ea typeface="Tomorrow"/>
                <a:cs typeface="Tomorrow"/>
                <a:sym typeface="Tomorrow"/>
              </a:rPr>
              <a:t>Parameter : </a:t>
            </a:r>
            <a:endParaRPr/>
          </a:p>
          <a:p>
            <a:pPr indent="-302260" lvl="1" marL="604519" marR="0" rtl="0" algn="l">
              <a:lnSpc>
                <a:spcPct val="130010"/>
              </a:lnSpc>
              <a:spcBef>
                <a:spcPts val="0"/>
              </a:spcBef>
              <a:spcAft>
                <a:spcPts val="0"/>
              </a:spcAft>
              <a:buClr>
                <a:srgbClr val="2E0031"/>
              </a:buClr>
              <a:buSzPts val="2799"/>
              <a:buFont typeface="Tomorrow"/>
              <a:buAutoNum type="arabicPeriod"/>
            </a:pPr>
            <a:r>
              <a:rPr b="0" i="0" lang="en-US" sz="2799" u="none" cap="none" strike="noStrike">
                <a:solidFill>
                  <a:srgbClr val="2E0031"/>
                </a:solidFill>
                <a:latin typeface="Tomorrow"/>
                <a:ea typeface="Tomorrow"/>
                <a:cs typeface="Tomorrow"/>
                <a:sym typeface="Tomorrow"/>
              </a:rPr>
              <a:t>Kernel RBF : Menangani data non-linear.</a:t>
            </a:r>
            <a:endParaRPr/>
          </a:p>
          <a:p>
            <a:pPr indent="-302260" lvl="1" marL="604519" marR="0" rtl="0" algn="l">
              <a:lnSpc>
                <a:spcPct val="130010"/>
              </a:lnSpc>
              <a:spcBef>
                <a:spcPts val="0"/>
              </a:spcBef>
              <a:spcAft>
                <a:spcPts val="0"/>
              </a:spcAft>
              <a:buClr>
                <a:srgbClr val="2E0031"/>
              </a:buClr>
              <a:buSzPts val="2799"/>
              <a:buFont typeface="Tomorrow"/>
              <a:buAutoNum type="arabicPeriod"/>
            </a:pPr>
            <a:r>
              <a:rPr b="0" i="0" lang="en-US" sz="2799" u="none" cap="none" strike="noStrike">
                <a:solidFill>
                  <a:srgbClr val="2E0031"/>
                </a:solidFill>
                <a:latin typeface="Tomorrow"/>
                <a:ea typeface="Tomorrow"/>
                <a:cs typeface="Tomorrow"/>
                <a:sym typeface="Tomorrow"/>
              </a:rPr>
              <a:t>Regularization (C = 1.0) : Mengatur kompleksitas model dan margin.</a:t>
            </a:r>
            <a:endParaRPr/>
          </a:p>
          <a:p>
            <a:pPr indent="-302260" lvl="1" marL="604519" marR="0" rtl="0" algn="l">
              <a:lnSpc>
                <a:spcPct val="130010"/>
              </a:lnSpc>
              <a:spcBef>
                <a:spcPts val="0"/>
              </a:spcBef>
              <a:spcAft>
                <a:spcPts val="0"/>
              </a:spcAft>
              <a:buClr>
                <a:srgbClr val="2E0031"/>
              </a:buClr>
              <a:buSzPts val="2799"/>
              <a:buFont typeface="Tomorrow"/>
              <a:buAutoNum type="arabicPeriod"/>
            </a:pPr>
            <a:r>
              <a:rPr b="0" i="0" lang="en-US" sz="2799" u="none" cap="none" strike="noStrike">
                <a:solidFill>
                  <a:srgbClr val="2E0031"/>
                </a:solidFill>
                <a:latin typeface="Tomorrow"/>
                <a:ea typeface="Tomorrow"/>
                <a:cs typeface="Tomorrow"/>
                <a:sym typeface="Tomorrow"/>
              </a:rPr>
              <a:t>Random state (42) : Reproducibility</a:t>
            </a:r>
            <a:endParaRPr/>
          </a:p>
          <a:p>
            <a:pPr indent="-302260" lvl="1" marL="604519" marR="0" rtl="0" algn="l">
              <a:lnSpc>
                <a:spcPct val="130010"/>
              </a:lnSpc>
              <a:spcBef>
                <a:spcPts val="0"/>
              </a:spcBef>
              <a:spcAft>
                <a:spcPts val="0"/>
              </a:spcAft>
              <a:buClr>
                <a:srgbClr val="2E0031"/>
              </a:buClr>
              <a:buSzPts val="2799"/>
              <a:buFont typeface="Tomorrow"/>
              <a:buAutoNum type="arabicPeriod"/>
            </a:pPr>
            <a:r>
              <a:rPr b="0" i="0" lang="en-US" sz="2799" u="none" cap="none" strike="noStrike">
                <a:solidFill>
                  <a:srgbClr val="2E0031"/>
                </a:solidFill>
                <a:latin typeface="Tomorrow"/>
                <a:ea typeface="Tomorrow"/>
                <a:cs typeface="Tomorrow"/>
                <a:sym typeface="Tomorrow"/>
              </a:rPr>
              <a:t>Data scaling : agar antar titik tidak bias</a:t>
            </a:r>
            <a:endParaRPr/>
          </a:p>
        </p:txBody>
      </p:sp>
      <p:sp>
        <p:nvSpPr>
          <p:cNvPr id="188" name="Google Shape;188;p10"/>
          <p:cNvSpPr txBox="1"/>
          <p:nvPr/>
        </p:nvSpPr>
        <p:spPr>
          <a:xfrm>
            <a:off x="11541020" y="3921691"/>
            <a:ext cx="4938179"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Support Vector Machine (SVM)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94" name="Google Shape;194;p11"/>
          <p:cNvSpPr/>
          <p:nvPr/>
        </p:nvSpPr>
        <p:spPr>
          <a:xfrm>
            <a:off x="795017" y="2441829"/>
            <a:ext cx="8687301" cy="7407899"/>
          </a:xfrm>
          <a:custGeom>
            <a:rect b="b" l="l" r="r" t="t"/>
            <a:pathLst>
              <a:path extrusionOk="0" h="7407899" w="8687301">
                <a:moveTo>
                  <a:pt x="0" y="0"/>
                </a:moveTo>
                <a:lnTo>
                  <a:pt x="8687301" y="0"/>
                </a:lnTo>
                <a:lnTo>
                  <a:pt x="8687301" y="7407899"/>
                </a:lnTo>
                <a:lnTo>
                  <a:pt x="0" y="7407899"/>
                </a:lnTo>
                <a:lnTo>
                  <a:pt x="0" y="0"/>
                </a:lnTo>
                <a:close/>
              </a:path>
            </a:pathLst>
          </a:custGeom>
          <a:blipFill rotWithShape="1">
            <a:blip r:embed="rId4">
              <a:alphaModFix/>
            </a:blip>
            <a:stretch>
              <a:fillRect b="0" l="0" r="0" t="0"/>
            </a:stretch>
          </a:blipFill>
          <a:ln>
            <a:noFill/>
          </a:ln>
        </p:spPr>
      </p:sp>
      <p:grpSp>
        <p:nvGrpSpPr>
          <p:cNvPr id="195" name="Google Shape;195;p11"/>
          <p:cNvGrpSpPr/>
          <p:nvPr/>
        </p:nvGrpSpPr>
        <p:grpSpPr>
          <a:xfrm>
            <a:off x="11176627" y="3067103"/>
            <a:ext cx="6082673" cy="5642951"/>
            <a:chOff x="0" y="-38100"/>
            <a:chExt cx="1602021" cy="1486209"/>
          </a:xfrm>
        </p:grpSpPr>
        <p:sp>
          <p:nvSpPr>
            <p:cNvPr id="196" name="Google Shape;196;p11"/>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8" name="Google Shape;198;p11"/>
          <p:cNvSpPr txBox="1"/>
          <p:nvPr/>
        </p:nvSpPr>
        <p:spPr>
          <a:xfrm>
            <a:off x="7563491" y="349980"/>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199" name="Google Shape;199;p11"/>
          <p:cNvSpPr txBox="1"/>
          <p:nvPr/>
        </p:nvSpPr>
        <p:spPr>
          <a:xfrm>
            <a:off x="1643274" y="4296658"/>
            <a:ext cx="6990787" cy="3660140"/>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b="0" i="0" lang="en-US" sz="2799" u="none" cap="none" strike="noStrike">
                <a:solidFill>
                  <a:srgbClr val="2E0031"/>
                </a:solidFill>
                <a:latin typeface="Tomorrow"/>
                <a:ea typeface="Tomorrow"/>
                <a:cs typeface="Tomorrow"/>
                <a:sym typeface="Tomorrow"/>
              </a:rPr>
              <a:t>Parameter : </a:t>
            </a:r>
            <a:endParaRPr/>
          </a:p>
          <a:p>
            <a:pPr indent="-302260" lvl="1" marL="604519" marR="0" rtl="0" algn="l">
              <a:lnSpc>
                <a:spcPct val="130010"/>
              </a:lnSpc>
              <a:spcBef>
                <a:spcPts val="0"/>
              </a:spcBef>
              <a:spcAft>
                <a:spcPts val="0"/>
              </a:spcAft>
              <a:buClr>
                <a:srgbClr val="2E0031"/>
              </a:buClr>
              <a:buSzPts val="2799"/>
              <a:buFont typeface="Tomorrow"/>
              <a:buAutoNum type="arabicPeriod"/>
            </a:pPr>
            <a:r>
              <a:rPr b="0" i="0" lang="en-US" sz="2799" u="none" cap="none" strike="noStrike">
                <a:solidFill>
                  <a:srgbClr val="2E0031"/>
                </a:solidFill>
                <a:latin typeface="Tomorrow"/>
                <a:ea typeface="Tomorrow"/>
                <a:cs typeface="Tomorrow"/>
                <a:sym typeface="Tomorrow"/>
              </a:rPr>
              <a:t>Kernel RBF : Menangani data non-linear.</a:t>
            </a:r>
            <a:endParaRPr/>
          </a:p>
          <a:p>
            <a:pPr indent="-302260" lvl="1" marL="604519" marR="0" rtl="0" algn="l">
              <a:lnSpc>
                <a:spcPct val="130010"/>
              </a:lnSpc>
              <a:spcBef>
                <a:spcPts val="0"/>
              </a:spcBef>
              <a:spcAft>
                <a:spcPts val="0"/>
              </a:spcAft>
              <a:buClr>
                <a:srgbClr val="2E0031"/>
              </a:buClr>
              <a:buSzPts val="2799"/>
              <a:buFont typeface="Tomorrow"/>
              <a:buAutoNum type="arabicPeriod"/>
            </a:pPr>
            <a:r>
              <a:rPr b="0" i="0" lang="en-US" sz="2799" u="none" cap="none" strike="noStrike">
                <a:solidFill>
                  <a:srgbClr val="2E0031"/>
                </a:solidFill>
                <a:latin typeface="Tomorrow"/>
                <a:ea typeface="Tomorrow"/>
                <a:cs typeface="Tomorrow"/>
                <a:sym typeface="Tomorrow"/>
              </a:rPr>
              <a:t>Regularization (C = 1.0) : Mengatur kompleksitas model dan margin.</a:t>
            </a:r>
            <a:endParaRPr/>
          </a:p>
          <a:p>
            <a:pPr indent="-302260" lvl="1" marL="604519" marR="0" rtl="0" algn="l">
              <a:lnSpc>
                <a:spcPct val="130010"/>
              </a:lnSpc>
              <a:spcBef>
                <a:spcPts val="0"/>
              </a:spcBef>
              <a:spcAft>
                <a:spcPts val="0"/>
              </a:spcAft>
              <a:buClr>
                <a:srgbClr val="2E0031"/>
              </a:buClr>
              <a:buSzPts val="2799"/>
              <a:buFont typeface="Tomorrow"/>
              <a:buAutoNum type="arabicPeriod"/>
            </a:pPr>
            <a:r>
              <a:rPr b="0" i="0" lang="en-US" sz="2799" u="none" cap="none" strike="noStrike">
                <a:solidFill>
                  <a:srgbClr val="2E0031"/>
                </a:solidFill>
                <a:latin typeface="Tomorrow"/>
                <a:ea typeface="Tomorrow"/>
                <a:cs typeface="Tomorrow"/>
                <a:sym typeface="Tomorrow"/>
              </a:rPr>
              <a:t>Random state (42) : Reproducibility</a:t>
            </a:r>
            <a:endParaRPr/>
          </a:p>
          <a:p>
            <a:pPr indent="-302260" lvl="1" marL="604519" marR="0" rtl="0" algn="l">
              <a:lnSpc>
                <a:spcPct val="130010"/>
              </a:lnSpc>
              <a:spcBef>
                <a:spcPts val="0"/>
              </a:spcBef>
              <a:spcAft>
                <a:spcPts val="0"/>
              </a:spcAft>
              <a:buClr>
                <a:srgbClr val="2E0031"/>
              </a:buClr>
              <a:buSzPts val="2799"/>
              <a:buFont typeface="Tomorrow"/>
              <a:buAutoNum type="arabicPeriod"/>
            </a:pPr>
            <a:r>
              <a:rPr b="0" i="0" lang="en-US" sz="2799" u="none" cap="none" strike="noStrike">
                <a:solidFill>
                  <a:srgbClr val="2E0031"/>
                </a:solidFill>
                <a:latin typeface="Tomorrow"/>
                <a:ea typeface="Tomorrow"/>
                <a:cs typeface="Tomorrow"/>
                <a:sym typeface="Tomorrow"/>
              </a:rPr>
              <a:t>Data scaling : agar antar titik tidak bias</a:t>
            </a:r>
            <a:endParaRPr/>
          </a:p>
        </p:txBody>
      </p:sp>
      <p:sp>
        <p:nvSpPr>
          <p:cNvPr id="200" name="Google Shape;200;p11"/>
          <p:cNvSpPr txBox="1"/>
          <p:nvPr/>
        </p:nvSpPr>
        <p:spPr>
          <a:xfrm>
            <a:off x="11541020" y="3921691"/>
            <a:ext cx="4938179"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Support Vector Machine (SVM)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06" name="Google Shape;206;p12"/>
          <p:cNvGrpSpPr/>
          <p:nvPr/>
        </p:nvGrpSpPr>
        <p:grpSpPr>
          <a:xfrm>
            <a:off x="-804394" y="3407203"/>
            <a:ext cx="6082673" cy="5642951"/>
            <a:chOff x="0" y="-38100"/>
            <a:chExt cx="1602021" cy="1486209"/>
          </a:xfrm>
        </p:grpSpPr>
        <p:sp>
          <p:nvSpPr>
            <p:cNvPr id="207" name="Google Shape;207;p12"/>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9" name="Google Shape;209;p12"/>
          <p:cNvSpPr/>
          <p:nvPr/>
        </p:nvSpPr>
        <p:spPr>
          <a:xfrm>
            <a:off x="6887883" y="3418746"/>
            <a:ext cx="10219212" cy="5242722"/>
          </a:xfrm>
          <a:custGeom>
            <a:rect b="b" l="l" r="r" t="t"/>
            <a:pathLst>
              <a:path extrusionOk="0" h="5242722" w="10219212">
                <a:moveTo>
                  <a:pt x="0" y="0"/>
                </a:moveTo>
                <a:lnTo>
                  <a:pt x="10219211" y="0"/>
                </a:lnTo>
                <a:lnTo>
                  <a:pt x="10219211" y="5242722"/>
                </a:lnTo>
                <a:lnTo>
                  <a:pt x="0" y="5242722"/>
                </a:lnTo>
                <a:lnTo>
                  <a:pt x="0" y="0"/>
                </a:lnTo>
                <a:close/>
              </a:path>
            </a:pathLst>
          </a:custGeom>
          <a:blipFill rotWithShape="1">
            <a:blip r:embed="rId4">
              <a:alphaModFix/>
            </a:blip>
            <a:stretch>
              <a:fillRect b="0" l="0" r="0" t="0"/>
            </a:stretch>
          </a:blipFill>
          <a:ln>
            <a:noFill/>
          </a:ln>
        </p:spPr>
      </p:sp>
      <p:sp>
        <p:nvSpPr>
          <p:cNvPr id="210" name="Google Shape;210;p12"/>
          <p:cNvSpPr txBox="1"/>
          <p:nvPr/>
        </p:nvSpPr>
        <p:spPr>
          <a:xfrm>
            <a:off x="2146173" y="520031"/>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211" name="Google Shape;211;p12"/>
          <p:cNvSpPr txBox="1"/>
          <p:nvPr/>
        </p:nvSpPr>
        <p:spPr>
          <a:xfrm>
            <a:off x="-232147" y="4194243"/>
            <a:ext cx="4938179"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Support Vector Machine (SVM)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17" name="Google Shape;217;p13"/>
          <p:cNvGrpSpPr/>
          <p:nvPr/>
        </p:nvGrpSpPr>
        <p:grpSpPr>
          <a:xfrm>
            <a:off x="-804394" y="3407203"/>
            <a:ext cx="6082673" cy="5642951"/>
            <a:chOff x="0" y="-38100"/>
            <a:chExt cx="1602021" cy="1486209"/>
          </a:xfrm>
        </p:grpSpPr>
        <p:sp>
          <p:nvSpPr>
            <p:cNvPr id="218" name="Google Shape;218;p13"/>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0" name="Google Shape;220;p13"/>
          <p:cNvSpPr/>
          <p:nvPr/>
        </p:nvSpPr>
        <p:spPr>
          <a:xfrm>
            <a:off x="7084411" y="2462387"/>
            <a:ext cx="8405675" cy="7123065"/>
          </a:xfrm>
          <a:custGeom>
            <a:rect b="b" l="l" r="r" t="t"/>
            <a:pathLst>
              <a:path extrusionOk="0" h="7123065" w="8405675">
                <a:moveTo>
                  <a:pt x="0" y="0"/>
                </a:moveTo>
                <a:lnTo>
                  <a:pt x="8405675" y="0"/>
                </a:lnTo>
                <a:lnTo>
                  <a:pt x="8405675" y="7123065"/>
                </a:lnTo>
                <a:lnTo>
                  <a:pt x="0" y="7123065"/>
                </a:lnTo>
                <a:lnTo>
                  <a:pt x="0" y="0"/>
                </a:lnTo>
                <a:close/>
              </a:path>
            </a:pathLst>
          </a:custGeom>
          <a:blipFill rotWithShape="1">
            <a:blip r:embed="rId4">
              <a:alphaModFix/>
            </a:blip>
            <a:stretch>
              <a:fillRect b="0" l="0" r="0" t="0"/>
            </a:stretch>
          </a:blipFill>
          <a:ln>
            <a:noFill/>
          </a:ln>
        </p:spPr>
      </p:sp>
      <p:sp>
        <p:nvSpPr>
          <p:cNvPr id="221" name="Google Shape;221;p13"/>
          <p:cNvSpPr txBox="1"/>
          <p:nvPr/>
        </p:nvSpPr>
        <p:spPr>
          <a:xfrm>
            <a:off x="2146173" y="520031"/>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222" name="Google Shape;222;p13"/>
          <p:cNvSpPr txBox="1"/>
          <p:nvPr/>
        </p:nvSpPr>
        <p:spPr>
          <a:xfrm>
            <a:off x="-232147" y="4194243"/>
            <a:ext cx="4938179"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Support Vector Machine (SVM)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28" name="Google Shape;228;p14"/>
          <p:cNvSpPr/>
          <p:nvPr/>
        </p:nvSpPr>
        <p:spPr>
          <a:xfrm>
            <a:off x="7475565" y="2368950"/>
            <a:ext cx="8687301" cy="7407899"/>
          </a:xfrm>
          <a:custGeom>
            <a:rect b="b" l="l" r="r" t="t"/>
            <a:pathLst>
              <a:path extrusionOk="0" h="7407899" w="8687301">
                <a:moveTo>
                  <a:pt x="0" y="0"/>
                </a:moveTo>
                <a:lnTo>
                  <a:pt x="8687301" y="0"/>
                </a:lnTo>
                <a:lnTo>
                  <a:pt x="8687301" y="7407899"/>
                </a:lnTo>
                <a:lnTo>
                  <a:pt x="0" y="7407899"/>
                </a:lnTo>
                <a:lnTo>
                  <a:pt x="0" y="0"/>
                </a:lnTo>
                <a:close/>
              </a:path>
            </a:pathLst>
          </a:custGeom>
          <a:blipFill rotWithShape="1">
            <a:blip r:embed="rId4">
              <a:alphaModFix/>
            </a:blip>
            <a:stretch>
              <a:fillRect b="0" l="0" r="0" t="0"/>
            </a:stretch>
          </a:blipFill>
          <a:ln>
            <a:noFill/>
          </a:ln>
        </p:spPr>
      </p:sp>
      <p:grpSp>
        <p:nvGrpSpPr>
          <p:cNvPr id="229" name="Google Shape;229;p14"/>
          <p:cNvGrpSpPr/>
          <p:nvPr/>
        </p:nvGrpSpPr>
        <p:grpSpPr>
          <a:xfrm>
            <a:off x="-610051" y="3524524"/>
            <a:ext cx="6082673" cy="5642951"/>
            <a:chOff x="0" y="-38100"/>
            <a:chExt cx="1602021" cy="1486209"/>
          </a:xfrm>
        </p:grpSpPr>
        <p:sp>
          <p:nvSpPr>
            <p:cNvPr id="230" name="Google Shape;230;p14"/>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2" name="Google Shape;232;p14"/>
          <p:cNvSpPr txBox="1"/>
          <p:nvPr/>
        </p:nvSpPr>
        <p:spPr>
          <a:xfrm>
            <a:off x="2146173" y="520031"/>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233" name="Google Shape;233;p14"/>
          <p:cNvSpPr txBox="1"/>
          <p:nvPr/>
        </p:nvSpPr>
        <p:spPr>
          <a:xfrm>
            <a:off x="8184908" y="3734312"/>
            <a:ext cx="7003565" cy="5433163"/>
          </a:xfrm>
          <a:prstGeom prst="rect">
            <a:avLst/>
          </a:prstGeom>
          <a:noFill/>
          <a:ln>
            <a:noFill/>
          </a:ln>
        </p:spPr>
        <p:txBody>
          <a:bodyPr anchorCtr="0" anchor="t" bIns="0" lIns="0" spcFirstLastPara="1" rIns="0" wrap="square" tIns="0">
            <a:spAutoFit/>
          </a:bodyPr>
          <a:lstStyle/>
          <a:p>
            <a:pPr indent="0" lvl="0" marL="0" marR="0" rtl="0" algn="l">
              <a:lnSpc>
                <a:spcPct val="130021"/>
              </a:lnSpc>
              <a:spcBef>
                <a:spcPts val="0"/>
              </a:spcBef>
              <a:spcAft>
                <a:spcPts val="0"/>
              </a:spcAft>
              <a:buNone/>
            </a:pPr>
            <a:r>
              <a:rPr b="0" i="0" lang="en-US" sz="1862" u="none" cap="none" strike="noStrike">
                <a:solidFill>
                  <a:srgbClr val="2E0031"/>
                </a:solidFill>
                <a:latin typeface="Tomorrow"/>
                <a:ea typeface="Tomorrow"/>
                <a:cs typeface="Tomorrow"/>
                <a:sym typeface="Tomorrow"/>
              </a:rPr>
              <a:t>Jaringan saraf feed-forward neural network dengan satu atau lebih hidden layer tanpa menggunakan backpropagation.</a:t>
            </a:r>
            <a:endParaRPr/>
          </a:p>
          <a:p>
            <a:pPr indent="0" lvl="0" marL="0" marR="0" rtl="0" algn="l">
              <a:lnSpc>
                <a:spcPct val="130021"/>
              </a:lnSpc>
              <a:spcBef>
                <a:spcPts val="0"/>
              </a:spcBef>
              <a:spcAft>
                <a:spcPts val="0"/>
              </a:spcAft>
              <a:buNone/>
            </a:pPr>
            <a:r>
              <a:t/>
            </a:r>
            <a:endParaRPr b="0" i="0" sz="1862" u="none" cap="none" strike="noStrike">
              <a:solidFill>
                <a:srgbClr val="2E0031"/>
              </a:solidFill>
              <a:latin typeface="Tomorrow"/>
              <a:ea typeface="Tomorrow"/>
              <a:cs typeface="Tomorrow"/>
              <a:sym typeface="Tomorrow"/>
            </a:endParaRPr>
          </a:p>
          <a:p>
            <a:pPr indent="0" lvl="0" marL="0" marR="0" rtl="0" algn="l">
              <a:lnSpc>
                <a:spcPct val="130021"/>
              </a:lnSpc>
              <a:spcBef>
                <a:spcPts val="0"/>
              </a:spcBef>
              <a:spcAft>
                <a:spcPts val="0"/>
              </a:spcAft>
              <a:buNone/>
            </a:pPr>
            <a:r>
              <a:rPr b="0" i="0" lang="en-US" sz="1862" u="none" cap="none" strike="noStrike">
                <a:solidFill>
                  <a:srgbClr val="2E0031"/>
                </a:solidFill>
                <a:latin typeface="Tomorrow"/>
                <a:ea typeface="Tomorrow"/>
                <a:cs typeface="Tomorrow"/>
                <a:sym typeface="Tomorrow"/>
              </a:rPr>
              <a:t>Kelebihan : </a:t>
            </a:r>
            <a:endParaRPr/>
          </a:p>
          <a:p>
            <a:pPr indent="-201046" lvl="1" marL="402092" marR="0" rtl="0" algn="l">
              <a:lnSpc>
                <a:spcPct val="130021"/>
              </a:lnSpc>
              <a:spcBef>
                <a:spcPts val="0"/>
              </a:spcBef>
              <a:spcAft>
                <a:spcPts val="0"/>
              </a:spcAft>
              <a:buClr>
                <a:srgbClr val="2E0031"/>
              </a:buClr>
              <a:buSzPts val="1862"/>
              <a:buFont typeface="Tomorrow"/>
              <a:buAutoNum type="arabicPeriod"/>
            </a:pPr>
            <a:r>
              <a:rPr b="0" i="0" lang="en-US" sz="1862" u="none" cap="none" strike="noStrike">
                <a:solidFill>
                  <a:srgbClr val="2E0031"/>
                </a:solidFill>
                <a:latin typeface="Tomorrow"/>
                <a:ea typeface="Tomorrow"/>
                <a:cs typeface="Tomorrow"/>
                <a:sym typeface="Tomorrow"/>
              </a:rPr>
              <a:t>Fleksibel </a:t>
            </a:r>
            <a:endParaRPr/>
          </a:p>
          <a:p>
            <a:pPr indent="-201046" lvl="1" marL="402092" marR="0" rtl="0" algn="l">
              <a:lnSpc>
                <a:spcPct val="130021"/>
              </a:lnSpc>
              <a:spcBef>
                <a:spcPts val="0"/>
              </a:spcBef>
              <a:spcAft>
                <a:spcPts val="0"/>
              </a:spcAft>
              <a:buClr>
                <a:srgbClr val="2E0031"/>
              </a:buClr>
              <a:buSzPts val="1862"/>
              <a:buFont typeface="Tomorrow"/>
              <a:buAutoNum type="arabicPeriod"/>
            </a:pPr>
            <a:r>
              <a:rPr b="0" i="0" lang="en-US" sz="1862" u="none" cap="none" strike="noStrike">
                <a:solidFill>
                  <a:srgbClr val="2E0031"/>
                </a:solidFill>
                <a:latin typeface="Tomorrow"/>
                <a:ea typeface="Tomorrow"/>
                <a:cs typeface="Tomorrow"/>
                <a:sym typeface="Tomorrow"/>
              </a:rPr>
              <a:t>Menghasilkan probabilitas prediksi.</a:t>
            </a:r>
            <a:endParaRPr/>
          </a:p>
          <a:p>
            <a:pPr indent="0" lvl="0" marL="0" marR="0" rtl="0" algn="l">
              <a:lnSpc>
                <a:spcPct val="130021"/>
              </a:lnSpc>
              <a:spcBef>
                <a:spcPts val="0"/>
              </a:spcBef>
              <a:spcAft>
                <a:spcPts val="0"/>
              </a:spcAft>
              <a:buNone/>
            </a:pPr>
            <a:r>
              <a:t/>
            </a:r>
            <a:endParaRPr b="0" i="0" sz="1862" u="none" cap="none" strike="noStrike">
              <a:solidFill>
                <a:srgbClr val="2E0031"/>
              </a:solidFill>
              <a:latin typeface="Tomorrow"/>
              <a:ea typeface="Tomorrow"/>
              <a:cs typeface="Tomorrow"/>
              <a:sym typeface="Tomorrow"/>
            </a:endParaRPr>
          </a:p>
          <a:p>
            <a:pPr indent="0" lvl="0" marL="0" marR="0" rtl="0" algn="l">
              <a:lnSpc>
                <a:spcPct val="130021"/>
              </a:lnSpc>
              <a:spcBef>
                <a:spcPts val="0"/>
              </a:spcBef>
              <a:spcAft>
                <a:spcPts val="0"/>
              </a:spcAft>
              <a:buNone/>
            </a:pPr>
            <a:r>
              <a:rPr b="0" i="0" lang="en-US" sz="1862" u="none" cap="none" strike="noStrike">
                <a:solidFill>
                  <a:srgbClr val="2E0031"/>
                </a:solidFill>
                <a:latin typeface="Tomorrow"/>
                <a:ea typeface="Tomorrow"/>
                <a:cs typeface="Tomorrow"/>
                <a:sym typeface="Tomorrow"/>
              </a:rPr>
              <a:t>Kekurangan :</a:t>
            </a:r>
            <a:endParaRPr/>
          </a:p>
          <a:p>
            <a:pPr indent="-201046" lvl="1" marL="402092" marR="0" rtl="0" algn="l">
              <a:lnSpc>
                <a:spcPct val="130021"/>
              </a:lnSpc>
              <a:spcBef>
                <a:spcPts val="0"/>
              </a:spcBef>
              <a:spcAft>
                <a:spcPts val="0"/>
              </a:spcAft>
              <a:buClr>
                <a:srgbClr val="2E0031"/>
              </a:buClr>
              <a:buSzPts val="1862"/>
              <a:buFont typeface="Tomorrow"/>
              <a:buAutoNum type="arabicPeriod"/>
            </a:pPr>
            <a:r>
              <a:rPr b="0" i="0" lang="en-US" sz="1862" u="none" cap="none" strike="noStrike">
                <a:solidFill>
                  <a:srgbClr val="2E0031"/>
                </a:solidFill>
                <a:latin typeface="Tomorrow"/>
                <a:ea typeface="Tomorrow"/>
                <a:cs typeface="Tomorrow"/>
                <a:sym typeface="Tomorrow"/>
              </a:rPr>
              <a:t> Butuh tuning lebih banyak.</a:t>
            </a:r>
            <a:endParaRPr/>
          </a:p>
          <a:p>
            <a:pPr indent="-201046" lvl="1" marL="402092" marR="0" rtl="0" algn="l">
              <a:lnSpc>
                <a:spcPct val="130021"/>
              </a:lnSpc>
              <a:spcBef>
                <a:spcPts val="0"/>
              </a:spcBef>
              <a:spcAft>
                <a:spcPts val="0"/>
              </a:spcAft>
              <a:buClr>
                <a:srgbClr val="2E0031"/>
              </a:buClr>
              <a:buSzPts val="1862"/>
              <a:buFont typeface="Tomorrow"/>
              <a:buAutoNum type="arabicPeriod"/>
            </a:pPr>
            <a:r>
              <a:rPr b="0" i="0" lang="en-US" sz="1862" u="none" cap="none" strike="noStrike">
                <a:solidFill>
                  <a:srgbClr val="2E0031"/>
                </a:solidFill>
                <a:latin typeface="Tomorrow"/>
                <a:ea typeface="Tomorrow"/>
                <a:cs typeface="Tomorrow"/>
                <a:sym typeface="Tomorrow"/>
              </a:rPr>
              <a:t>Rawan overfitting.</a:t>
            </a:r>
            <a:endParaRPr/>
          </a:p>
          <a:p>
            <a:pPr indent="-201046" lvl="1" marL="402092" marR="0" rtl="0" algn="l">
              <a:lnSpc>
                <a:spcPct val="130021"/>
              </a:lnSpc>
              <a:spcBef>
                <a:spcPts val="0"/>
              </a:spcBef>
              <a:spcAft>
                <a:spcPts val="0"/>
              </a:spcAft>
              <a:buClr>
                <a:srgbClr val="2E0031"/>
              </a:buClr>
              <a:buSzPts val="1862"/>
              <a:buFont typeface="Tomorrow"/>
              <a:buAutoNum type="arabicPeriod"/>
            </a:pPr>
            <a:r>
              <a:rPr b="0" i="0" lang="en-US" sz="1862" u="none" cap="none" strike="noStrike">
                <a:solidFill>
                  <a:srgbClr val="2E0031"/>
                </a:solidFill>
                <a:latin typeface="Tomorrow"/>
                <a:ea typeface="Tomorrow"/>
                <a:cs typeface="Tomorrow"/>
                <a:sym typeface="Tomorrow"/>
              </a:rPr>
              <a:t>Jika data tidak seimbang akan sensitif</a:t>
            </a:r>
            <a:endParaRPr/>
          </a:p>
          <a:p>
            <a:pPr indent="0" lvl="0" marL="0" marR="0" rtl="0" algn="l">
              <a:lnSpc>
                <a:spcPct val="130021"/>
              </a:lnSpc>
              <a:spcBef>
                <a:spcPts val="0"/>
              </a:spcBef>
              <a:spcAft>
                <a:spcPts val="0"/>
              </a:spcAft>
              <a:buNone/>
            </a:pPr>
            <a:r>
              <a:t/>
            </a:r>
            <a:endParaRPr b="0" i="0" sz="1862" u="none" cap="none" strike="noStrike">
              <a:solidFill>
                <a:srgbClr val="2E0031"/>
              </a:solidFill>
              <a:latin typeface="Tomorrow"/>
              <a:ea typeface="Tomorrow"/>
              <a:cs typeface="Tomorrow"/>
              <a:sym typeface="Tomorrow"/>
            </a:endParaRPr>
          </a:p>
          <a:p>
            <a:pPr indent="0" lvl="0" marL="0" marR="0" rtl="0" algn="l">
              <a:lnSpc>
                <a:spcPct val="130021"/>
              </a:lnSpc>
              <a:spcBef>
                <a:spcPts val="0"/>
              </a:spcBef>
              <a:spcAft>
                <a:spcPts val="0"/>
              </a:spcAft>
              <a:buNone/>
            </a:pPr>
            <a:r>
              <a:rPr b="0" i="0" lang="en-US" sz="1862" u="none" cap="none" strike="noStrike">
                <a:solidFill>
                  <a:srgbClr val="2E0031"/>
                </a:solidFill>
                <a:latin typeface="Tomorrow"/>
                <a:ea typeface="Tomorrow"/>
                <a:cs typeface="Tomorrow"/>
                <a:sym typeface="Tomorrow"/>
              </a:rPr>
              <a:t>Beberapa penelitian melaporkan MLP memebrikan akurasi yang tinggi jika memiliki tuning yang baik, banyak digunakan dalam bidang keselahan, dan cocok untuk sebagai pembanding karena kemampuan belajarnya yang mendalam.</a:t>
            </a:r>
            <a:endParaRPr/>
          </a:p>
          <a:p>
            <a:pPr indent="0" lvl="0" marL="0" marR="0" rtl="0" algn="l">
              <a:lnSpc>
                <a:spcPct val="130021"/>
              </a:lnSpc>
              <a:spcBef>
                <a:spcPts val="0"/>
              </a:spcBef>
              <a:spcAft>
                <a:spcPts val="0"/>
              </a:spcAft>
              <a:buNone/>
            </a:pPr>
            <a:r>
              <a:t/>
            </a:r>
            <a:endParaRPr b="0" i="0" sz="1862" u="none" cap="none" strike="noStrike">
              <a:solidFill>
                <a:srgbClr val="2E0031"/>
              </a:solidFill>
              <a:latin typeface="Tomorrow"/>
              <a:ea typeface="Tomorrow"/>
              <a:cs typeface="Tomorrow"/>
              <a:sym typeface="Tomorrow"/>
            </a:endParaRPr>
          </a:p>
        </p:txBody>
      </p:sp>
      <p:sp>
        <p:nvSpPr>
          <p:cNvPr id="234" name="Google Shape;234;p14"/>
          <p:cNvSpPr txBox="1"/>
          <p:nvPr/>
        </p:nvSpPr>
        <p:spPr>
          <a:xfrm>
            <a:off x="0" y="4303463"/>
            <a:ext cx="5326865"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MULTI LAYER PERCEPTRON (MLP)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40" name="Google Shape;240;p15"/>
          <p:cNvSpPr/>
          <p:nvPr/>
        </p:nvSpPr>
        <p:spPr>
          <a:xfrm>
            <a:off x="7475565" y="2368950"/>
            <a:ext cx="8687301" cy="7407899"/>
          </a:xfrm>
          <a:custGeom>
            <a:rect b="b" l="l" r="r" t="t"/>
            <a:pathLst>
              <a:path extrusionOk="0" h="7407899" w="8687301">
                <a:moveTo>
                  <a:pt x="0" y="0"/>
                </a:moveTo>
                <a:lnTo>
                  <a:pt x="8687301" y="0"/>
                </a:lnTo>
                <a:lnTo>
                  <a:pt x="8687301" y="7407899"/>
                </a:lnTo>
                <a:lnTo>
                  <a:pt x="0" y="7407899"/>
                </a:lnTo>
                <a:lnTo>
                  <a:pt x="0" y="0"/>
                </a:lnTo>
                <a:close/>
              </a:path>
            </a:pathLst>
          </a:custGeom>
          <a:blipFill rotWithShape="1">
            <a:blip r:embed="rId4">
              <a:alphaModFix/>
            </a:blip>
            <a:stretch>
              <a:fillRect b="0" l="0" r="0" t="0"/>
            </a:stretch>
          </a:blipFill>
          <a:ln>
            <a:noFill/>
          </a:ln>
        </p:spPr>
      </p:sp>
      <p:grpSp>
        <p:nvGrpSpPr>
          <p:cNvPr id="241" name="Google Shape;241;p15"/>
          <p:cNvGrpSpPr/>
          <p:nvPr/>
        </p:nvGrpSpPr>
        <p:grpSpPr>
          <a:xfrm>
            <a:off x="-610051" y="3524524"/>
            <a:ext cx="6082673" cy="5642951"/>
            <a:chOff x="0" y="-38100"/>
            <a:chExt cx="1602021" cy="1486209"/>
          </a:xfrm>
        </p:grpSpPr>
        <p:sp>
          <p:nvSpPr>
            <p:cNvPr id="242" name="Google Shape;242;p15"/>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4" name="Google Shape;244;p15"/>
          <p:cNvSpPr txBox="1"/>
          <p:nvPr/>
        </p:nvSpPr>
        <p:spPr>
          <a:xfrm>
            <a:off x="2146173" y="520031"/>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245" name="Google Shape;245;p15"/>
          <p:cNvSpPr txBox="1"/>
          <p:nvPr/>
        </p:nvSpPr>
        <p:spPr>
          <a:xfrm>
            <a:off x="0" y="4303463"/>
            <a:ext cx="5326865"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MULTI LAYER PERCEPTRON (MLP)</a:t>
            </a:r>
            <a:endParaRPr/>
          </a:p>
        </p:txBody>
      </p:sp>
      <p:sp>
        <p:nvSpPr>
          <p:cNvPr id="246" name="Google Shape;246;p15"/>
          <p:cNvSpPr txBox="1"/>
          <p:nvPr/>
        </p:nvSpPr>
        <p:spPr>
          <a:xfrm>
            <a:off x="8121760" y="4456180"/>
            <a:ext cx="6990787" cy="4857751"/>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b="0" i="0" lang="en-US" sz="2999" u="none" cap="none" strike="noStrike">
                <a:solidFill>
                  <a:srgbClr val="2E0031"/>
                </a:solidFill>
                <a:latin typeface="Tomorrow"/>
                <a:ea typeface="Tomorrow"/>
                <a:cs typeface="Tomorrow"/>
                <a:sym typeface="Tomorrow"/>
              </a:rPr>
              <a:t>Parameter : </a:t>
            </a:r>
            <a:endParaRPr/>
          </a:p>
          <a:p>
            <a:pPr indent="0" lvl="0" marL="0" marR="0" rtl="0" algn="l">
              <a:lnSpc>
                <a:spcPct val="130010"/>
              </a:lnSpc>
              <a:spcBef>
                <a:spcPts val="0"/>
              </a:spcBef>
              <a:spcAft>
                <a:spcPts val="0"/>
              </a:spcAft>
              <a:buNone/>
            </a:pPr>
            <a:r>
              <a:t/>
            </a:r>
            <a:endParaRPr b="0" i="0" sz="2999" u="none" cap="none" strike="noStrike">
              <a:solidFill>
                <a:srgbClr val="2E0031"/>
              </a:solidFill>
              <a:latin typeface="Tomorrow"/>
              <a:ea typeface="Tomorrow"/>
              <a:cs typeface="Tomorrow"/>
              <a:sym typeface="Tomorrow"/>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hidden layer sizes = 100, 50</a:t>
            </a:r>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max iteration = 300</a:t>
            </a:r>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random state = 42</a:t>
            </a:r>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activation = relu</a:t>
            </a:r>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solver = adam</a:t>
            </a:r>
            <a:endParaRPr/>
          </a:p>
          <a:p>
            <a:pPr indent="-323848" lvl="1" marL="647695" marR="0" rtl="0" algn="l">
              <a:lnSpc>
                <a:spcPct val="130010"/>
              </a:lnSpc>
              <a:spcBef>
                <a:spcPts val="0"/>
              </a:spcBef>
              <a:spcAft>
                <a:spcPts val="0"/>
              </a:spcAft>
              <a:buClr>
                <a:srgbClr val="2E0031"/>
              </a:buClr>
              <a:buSzPts val="2999"/>
              <a:buFont typeface="Tomorrow"/>
              <a:buAutoNum type="arabicPeriod"/>
            </a:pPr>
            <a:r>
              <a:rPr b="0" i="0" lang="en-US" sz="2999" u="none" cap="none" strike="noStrike">
                <a:solidFill>
                  <a:srgbClr val="2E0031"/>
                </a:solidFill>
                <a:latin typeface="Tomorrow"/>
                <a:ea typeface="Tomorrow"/>
                <a:cs typeface="Tomorrow"/>
                <a:sym typeface="Tomorrow"/>
              </a:rPr>
              <a:t>early stopping= True</a:t>
            </a:r>
            <a:endParaRPr/>
          </a:p>
          <a:p>
            <a:pPr indent="0" lvl="0" marL="0" marR="0" rtl="0" algn="l">
              <a:lnSpc>
                <a:spcPct val="130010"/>
              </a:lnSpc>
              <a:spcBef>
                <a:spcPts val="0"/>
              </a:spcBef>
              <a:spcAft>
                <a:spcPts val="0"/>
              </a:spcAft>
              <a:buNone/>
            </a:pPr>
            <a:r>
              <a:t/>
            </a:r>
            <a:endParaRPr b="0" i="0" sz="2999" u="none" cap="none" strike="noStrike">
              <a:solidFill>
                <a:srgbClr val="2E0031"/>
              </a:solidFill>
              <a:latin typeface="Tomorrow"/>
              <a:ea typeface="Tomorrow"/>
              <a:cs typeface="Tomorrow"/>
              <a:sym typeface="Tomorrow"/>
            </a:endParaRPr>
          </a:p>
          <a:p>
            <a:pPr indent="0" lvl="0" marL="0" marR="0" rtl="0" algn="l">
              <a:lnSpc>
                <a:spcPct val="130010"/>
              </a:lnSpc>
              <a:spcBef>
                <a:spcPts val="0"/>
              </a:spcBef>
              <a:spcAft>
                <a:spcPts val="0"/>
              </a:spcAft>
              <a:buNone/>
            </a:pPr>
            <a:r>
              <a:t/>
            </a:r>
            <a:endParaRPr b="0" i="0" sz="2999" u="none" cap="none" strike="noStrike">
              <a:solidFill>
                <a:srgbClr val="2E0031"/>
              </a:solidFill>
              <a:latin typeface="Tomorrow"/>
              <a:ea typeface="Tomorrow"/>
              <a:cs typeface="Tomorrow"/>
              <a:sym typeface="Tomorro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52" name="Google Shape;252;p16"/>
          <p:cNvGrpSpPr/>
          <p:nvPr/>
        </p:nvGrpSpPr>
        <p:grpSpPr>
          <a:xfrm>
            <a:off x="-610051" y="3524524"/>
            <a:ext cx="6082673" cy="5642951"/>
            <a:chOff x="0" y="-38100"/>
            <a:chExt cx="1602021" cy="1486209"/>
          </a:xfrm>
        </p:grpSpPr>
        <p:sp>
          <p:nvSpPr>
            <p:cNvPr id="253" name="Google Shape;253;p16"/>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5" name="Google Shape;255;p16"/>
          <p:cNvSpPr/>
          <p:nvPr/>
        </p:nvSpPr>
        <p:spPr>
          <a:xfrm>
            <a:off x="6161641" y="3596059"/>
            <a:ext cx="11097659" cy="5571416"/>
          </a:xfrm>
          <a:custGeom>
            <a:rect b="b" l="l" r="r" t="t"/>
            <a:pathLst>
              <a:path extrusionOk="0" h="5571416" w="11097659">
                <a:moveTo>
                  <a:pt x="0" y="0"/>
                </a:moveTo>
                <a:lnTo>
                  <a:pt x="11097659" y="0"/>
                </a:lnTo>
                <a:lnTo>
                  <a:pt x="11097659" y="5571417"/>
                </a:lnTo>
                <a:lnTo>
                  <a:pt x="0" y="5571417"/>
                </a:lnTo>
                <a:lnTo>
                  <a:pt x="0" y="0"/>
                </a:lnTo>
                <a:close/>
              </a:path>
            </a:pathLst>
          </a:custGeom>
          <a:blipFill rotWithShape="1">
            <a:blip r:embed="rId4">
              <a:alphaModFix/>
            </a:blip>
            <a:stretch>
              <a:fillRect b="0" l="0" r="0" t="0"/>
            </a:stretch>
          </a:blipFill>
          <a:ln>
            <a:noFill/>
          </a:ln>
        </p:spPr>
      </p:sp>
      <p:sp>
        <p:nvSpPr>
          <p:cNvPr id="256" name="Google Shape;256;p16"/>
          <p:cNvSpPr txBox="1"/>
          <p:nvPr/>
        </p:nvSpPr>
        <p:spPr>
          <a:xfrm>
            <a:off x="2146173" y="520031"/>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257" name="Google Shape;257;p16"/>
          <p:cNvSpPr txBox="1"/>
          <p:nvPr/>
        </p:nvSpPr>
        <p:spPr>
          <a:xfrm>
            <a:off x="0" y="4303463"/>
            <a:ext cx="5326865"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MULTI LAYER PERCEPTRON (MLP)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63" name="Google Shape;263;p17"/>
          <p:cNvGrpSpPr/>
          <p:nvPr/>
        </p:nvGrpSpPr>
        <p:grpSpPr>
          <a:xfrm>
            <a:off x="-610051" y="3524524"/>
            <a:ext cx="6082673" cy="5642951"/>
            <a:chOff x="0" y="-38100"/>
            <a:chExt cx="1602021" cy="1486209"/>
          </a:xfrm>
        </p:grpSpPr>
        <p:sp>
          <p:nvSpPr>
            <p:cNvPr id="264" name="Google Shape;264;p17"/>
            <p:cNvSpPr/>
            <p:nvPr/>
          </p:nvSpPr>
          <p:spPr>
            <a:xfrm>
              <a:off x="0" y="0"/>
              <a:ext cx="1602021" cy="1448109"/>
            </a:xfrm>
            <a:custGeom>
              <a:rect b="b" l="l" r="r" t="t"/>
              <a:pathLst>
                <a:path extrusionOk="0" h="1448109" w="1602021">
                  <a:moveTo>
                    <a:pt x="64912" y="0"/>
                  </a:moveTo>
                  <a:lnTo>
                    <a:pt x="1537109" y="0"/>
                  </a:lnTo>
                  <a:cubicBezTo>
                    <a:pt x="1572959" y="0"/>
                    <a:pt x="1602021" y="29062"/>
                    <a:pt x="1602021" y="64912"/>
                  </a:cubicBezTo>
                  <a:lnTo>
                    <a:pt x="1602021" y="1383197"/>
                  </a:lnTo>
                  <a:cubicBezTo>
                    <a:pt x="1602021" y="1400413"/>
                    <a:pt x="1595182" y="1416924"/>
                    <a:pt x="1583009" y="1429097"/>
                  </a:cubicBezTo>
                  <a:cubicBezTo>
                    <a:pt x="1570835" y="1441270"/>
                    <a:pt x="1554325" y="1448109"/>
                    <a:pt x="1537109" y="1448109"/>
                  </a:cubicBezTo>
                  <a:lnTo>
                    <a:pt x="64912" y="1448109"/>
                  </a:lnTo>
                  <a:cubicBezTo>
                    <a:pt x="29062" y="1448109"/>
                    <a:pt x="0" y="1419047"/>
                    <a:pt x="0" y="1383197"/>
                  </a:cubicBezTo>
                  <a:lnTo>
                    <a:pt x="0" y="64912"/>
                  </a:lnTo>
                  <a:cubicBezTo>
                    <a:pt x="0" y="29062"/>
                    <a:pt x="29062" y="0"/>
                    <a:pt x="64912" y="0"/>
                  </a:cubicBezTo>
                  <a:close/>
                </a:path>
              </a:pathLst>
            </a:custGeom>
            <a:solidFill>
              <a:srgbClr val="C97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7"/>
            <p:cNvSpPr txBox="1"/>
            <p:nvPr/>
          </p:nvSpPr>
          <p:spPr>
            <a:xfrm>
              <a:off x="0" y="-38100"/>
              <a:ext cx="1602021" cy="14862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6" name="Google Shape;266;p17"/>
          <p:cNvSpPr/>
          <p:nvPr/>
        </p:nvSpPr>
        <p:spPr>
          <a:xfrm>
            <a:off x="7810931" y="2227051"/>
            <a:ext cx="8750306" cy="7394008"/>
          </a:xfrm>
          <a:custGeom>
            <a:rect b="b" l="l" r="r" t="t"/>
            <a:pathLst>
              <a:path extrusionOk="0" h="7394008" w="8750306">
                <a:moveTo>
                  <a:pt x="0" y="0"/>
                </a:moveTo>
                <a:lnTo>
                  <a:pt x="8750306" y="0"/>
                </a:lnTo>
                <a:lnTo>
                  <a:pt x="8750306" y="7394008"/>
                </a:lnTo>
                <a:lnTo>
                  <a:pt x="0" y="7394008"/>
                </a:lnTo>
                <a:lnTo>
                  <a:pt x="0" y="0"/>
                </a:lnTo>
                <a:close/>
              </a:path>
            </a:pathLst>
          </a:custGeom>
          <a:blipFill rotWithShape="1">
            <a:blip r:embed="rId4">
              <a:alphaModFix/>
            </a:blip>
            <a:stretch>
              <a:fillRect b="0" l="0" r="0" t="0"/>
            </a:stretch>
          </a:blipFill>
          <a:ln>
            <a:noFill/>
          </a:ln>
        </p:spPr>
      </p:sp>
      <p:sp>
        <p:nvSpPr>
          <p:cNvPr id="267" name="Google Shape;267;p17"/>
          <p:cNvSpPr txBox="1"/>
          <p:nvPr/>
        </p:nvSpPr>
        <p:spPr>
          <a:xfrm>
            <a:off x="2146173" y="520031"/>
            <a:ext cx="6997827" cy="2246083"/>
          </a:xfrm>
          <a:prstGeom prst="rect">
            <a:avLst/>
          </a:prstGeom>
          <a:noFill/>
          <a:ln>
            <a:noFill/>
          </a:ln>
        </p:spPr>
        <p:txBody>
          <a:bodyPr anchorCtr="0" anchor="t" bIns="0" lIns="0" spcFirstLastPara="1" rIns="0" wrap="square" tIns="0">
            <a:spAutoFit/>
          </a:bodyPr>
          <a:lstStyle/>
          <a:p>
            <a:pPr indent="0" lvl="0" marL="0" marR="0" rtl="0" algn="ctr">
              <a:lnSpc>
                <a:spcPct val="117009"/>
              </a:lnSpc>
              <a:spcBef>
                <a:spcPts val="0"/>
              </a:spcBef>
              <a:spcAft>
                <a:spcPts val="0"/>
              </a:spcAft>
              <a:buNone/>
            </a:pPr>
            <a:r>
              <a:rPr b="0" i="0" lang="en-US" sz="15050" u="none" cap="none" strike="noStrike">
                <a:solidFill>
                  <a:srgbClr val="FFFFFF"/>
                </a:solidFill>
                <a:latin typeface="Arial"/>
                <a:ea typeface="Arial"/>
                <a:cs typeface="Arial"/>
                <a:sym typeface="Arial"/>
              </a:rPr>
              <a:t>METODE</a:t>
            </a:r>
            <a:endParaRPr/>
          </a:p>
        </p:txBody>
      </p:sp>
      <p:sp>
        <p:nvSpPr>
          <p:cNvPr id="268" name="Google Shape;268;p17"/>
          <p:cNvSpPr txBox="1"/>
          <p:nvPr/>
        </p:nvSpPr>
        <p:spPr>
          <a:xfrm>
            <a:off x="0" y="4303463"/>
            <a:ext cx="5326865" cy="446722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None/>
            </a:pPr>
            <a:r>
              <a:rPr b="0" i="0" lang="en-US" sz="7500" u="none" cap="none" strike="noStrike">
                <a:solidFill>
                  <a:srgbClr val="FFFFFF"/>
                </a:solidFill>
                <a:latin typeface="Arial"/>
                <a:ea typeface="Arial"/>
                <a:cs typeface="Arial"/>
                <a:sym typeface="Arial"/>
              </a:rPr>
              <a:t> MULTI LAYER PERCEPTRON (MLP)</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74" name="Google Shape;274;p18"/>
          <p:cNvSpPr/>
          <p:nvPr/>
        </p:nvSpPr>
        <p:spPr>
          <a:xfrm>
            <a:off x="3933351" y="387599"/>
            <a:ext cx="10421297" cy="9511802"/>
          </a:xfrm>
          <a:custGeom>
            <a:rect b="b" l="l" r="r" t="t"/>
            <a:pathLst>
              <a:path extrusionOk="0" h="9511802" w="10421297">
                <a:moveTo>
                  <a:pt x="0" y="0"/>
                </a:moveTo>
                <a:lnTo>
                  <a:pt x="10421298" y="0"/>
                </a:lnTo>
                <a:lnTo>
                  <a:pt x="10421298" y="9511802"/>
                </a:lnTo>
                <a:lnTo>
                  <a:pt x="0" y="9511802"/>
                </a:lnTo>
                <a:lnTo>
                  <a:pt x="0" y="0"/>
                </a:lnTo>
                <a:close/>
              </a:path>
            </a:pathLst>
          </a:custGeom>
          <a:blipFill rotWithShape="1">
            <a:blip r:embed="rId4">
              <a:alphaModFix/>
            </a:blip>
            <a:stretch>
              <a:fillRect b="0" l="0" r="0" t="0"/>
            </a:stretch>
          </a:blipFill>
          <a:ln>
            <a:noFill/>
          </a:ln>
        </p:spPr>
      </p:sp>
      <p:sp>
        <p:nvSpPr>
          <p:cNvPr id="275" name="Google Shape;275;p18"/>
          <p:cNvSpPr txBox="1"/>
          <p:nvPr/>
        </p:nvSpPr>
        <p:spPr>
          <a:xfrm>
            <a:off x="5009676" y="6134322"/>
            <a:ext cx="7272021" cy="113982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0" i="0" lang="en-US" sz="6999" u="sng" cap="none" strike="noStrike">
                <a:solidFill>
                  <a:srgbClr val="2E0031"/>
                </a:solidFill>
                <a:latin typeface="Tomorrow"/>
                <a:ea typeface="Tomorrow"/>
                <a:cs typeface="Tomorrow"/>
                <a:sym typeface="Tomorrow"/>
                <a:hlinkClick r:id="rId5">
                  <a:extLst>
                    <a:ext uri="{A12FA001-AC4F-418D-AE19-62706E023703}">
                      <ahyp:hlinkClr val="tx"/>
                    </a:ext>
                  </a:extLst>
                </a:hlinkClick>
              </a:rPr>
              <a:t>kode </a:t>
            </a:r>
            <a:r>
              <a:rPr b="0" i="0" lang="en-US" sz="6999" u="sng" cap="none" strike="noStrike">
                <a:solidFill>
                  <a:srgbClr val="2E0031"/>
                </a:solidFill>
                <a:latin typeface="Tomorrow"/>
                <a:ea typeface="Tomorrow"/>
                <a:cs typeface="Tomorrow"/>
                <a:sym typeface="Tomorrow"/>
                <a:hlinkClick r:id="rId6">
                  <a:extLst>
                    <a:ext uri="{A12FA001-AC4F-418D-AE19-62706E023703}">
                      <ahyp:hlinkClr val="tx"/>
                    </a:ext>
                  </a:extLst>
                </a:hlinkClick>
              </a:rPr>
              <a:t>proyek </a:t>
            </a:r>
            <a:r>
              <a:rPr b="0" i="0" lang="en-US" sz="6999" u="sng" cap="none" strike="noStrike">
                <a:solidFill>
                  <a:srgbClr val="2E0031"/>
                </a:solidFill>
                <a:latin typeface="Tomorrow"/>
                <a:ea typeface="Tomorrow"/>
                <a:cs typeface="Tomorrow"/>
                <a:sym typeface="Tomorrow"/>
                <a:hlinkClick r:id="rId7">
                  <a:extLst>
                    <a:ext uri="{A12FA001-AC4F-418D-AE19-62706E023703}">
                      <ahyp:hlinkClr val="tx"/>
                    </a:ext>
                  </a:extLst>
                </a:hlinkClick>
              </a:rPr>
              <a:t>jst</a:t>
            </a:r>
            <a:endParaRPr/>
          </a:p>
        </p:txBody>
      </p:sp>
      <p:sp>
        <p:nvSpPr>
          <p:cNvPr id="276" name="Google Shape;276;p18"/>
          <p:cNvSpPr txBox="1"/>
          <p:nvPr/>
        </p:nvSpPr>
        <p:spPr>
          <a:xfrm>
            <a:off x="5009676" y="3980470"/>
            <a:ext cx="7272021" cy="1163030"/>
          </a:xfrm>
          <a:prstGeom prst="rect">
            <a:avLst/>
          </a:prstGeom>
          <a:noFill/>
          <a:ln>
            <a:noFill/>
          </a:ln>
        </p:spPr>
        <p:txBody>
          <a:bodyPr anchorCtr="0" anchor="t" bIns="0" lIns="0" spcFirstLastPara="1" rIns="0" wrap="square" tIns="0">
            <a:spAutoFit/>
          </a:bodyPr>
          <a:lstStyle/>
          <a:p>
            <a:pPr indent="0" lvl="0" marL="0" marR="0" rtl="0" algn="ctr">
              <a:lnSpc>
                <a:spcPct val="117004"/>
              </a:lnSpc>
              <a:spcBef>
                <a:spcPts val="0"/>
              </a:spcBef>
              <a:spcAft>
                <a:spcPts val="0"/>
              </a:spcAft>
              <a:buNone/>
            </a:pPr>
            <a:r>
              <a:rPr b="0" i="0" lang="en-US" sz="7757" u="none" cap="none" strike="noStrike">
                <a:solidFill>
                  <a:srgbClr val="2E0031"/>
                </a:solidFill>
                <a:latin typeface="Arial"/>
                <a:ea typeface="Arial"/>
                <a:cs typeface="Arial"/>
                <a:sym typeface="Arial"/>
              </a:rPr>
              <a:t>Kode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82" name="Google Shape;282;p19"/>
          <p:cNvSpPr/>
          <p:nvPr/>
        </p:nvSpPr>
        <p:spPr>
          <a:xfrm>
            <a:off x="376735" y="880161"/>
            <a:ext cx="17115595" cy="8526678"/>
          </a:xfrm>
          <a:custGeom>
            <a:rect b="b" l="l" r="r" t="t"/>
            <a:pathLst>
              <a:path extrusionOk="0" h="8526678" w="17115595">
                <a:moveTo>
                  <a:pt x="0" y="0"/>
                </a:moveTo>
                <a:lnTo>
                  <a:pt x="17115594" y="0"/>
                </a:lnTo>
                <a:lnTo>
                  <a:pt x="17115594" y="8526678"/>
                </a:lnTo>
                <a:lnTo>
                  <a:pt x="0" y="8526678"/>
                </a:lnTo>
                <a:lnTo>
                  <a:pt x="0" y="0"/>
                </a:lnTo>
                <a:close/>
              </a:path>
            </a:pathLst>
          </a:custGeom>
          <a:blipFill rotWithShape="1">
            <a:blip r:embed="rId4">
              <a:alphaModFix/>
            </a:blip>
            <a:stretch>
              <a:fillRect b="0" l="0" r="0" t="0"/>
            </a:stretch>
          </a:blipFill>
          <a:ln>
            <a:noFill/>
          </a:ln>
        </p:spPr>
      </p:sp>
      <p:sp>
        <p:nvSpPr>
          <p:cNvPr id="283" name="Google Shape;283;p19"/>
          <p:cNvSpPr txBox="1"/>
          <p:nvPr/>
        </p:nvSpPr>
        <p:spPr>
          <a:xfrm>
            <a:off x="1403881" y="2820184"/>
            <a:ext cx="15480239" cy="1466572"/>
          </a:xfrm>
          <a:prstGeom prst="rect">
            <a:avLst/>
          </a:prstGeom>
          <a:noFill/>
          <a:ln>
            <a:noFill/>
          </a:ln>
        </p:spPr>
        <p:txBody>
          <a:bodyPr anchorCtr="0" anchor="t" bIns="0" lIns="0" spcFirstLastPara="1" rIns="0" wrap="square" tIns="0">
            <a:spAutoFit/>
          </a:bodyPr>
          <a:lstStyle/>
          <a:p>
            <a:pPr indent="0" lvl="0" marL="0" marR="0" rtl="0" algn="ctr">
              <a:lnSpc>
                <a:spcPct val="116998"/>
              </a:lnSpc>
              <a:spcBef>
                <a:spcPts val="0"/>
              </a:spcBef>
              <a:spcAft>
                <a:spcPts val="0"/>
              </a:spcAft>
              <a:buNone/>
            </a:pPr>
            <a:r>
              <a:rPr b="0" i="0" lang="en-US" sz="9789" u="none" cap="none" strike="noStrike">
                <a:solidFill>
                  <a:srgbClr val="2E0031"/>
                </a:solidFill>
                <a:latin typeface="Arial"/>
                <a:ea typeface="Arial"/>
                <a:cs typeface="Arial"/>
                <a:sym typeface="Arial"/>
              </a:rPr>
              <a:t>Kesimpulan</a:t>
            </a:r>
            <a:endParaRPr/>
          </a:p>
        </p:txBody>
      </p:sp>
      <p:sp>
        <p:nvSpPr>
          <p:cNvPr id="284" name="Google Shape;284;p19"/>
          <p:cNvSpPr txBox="1"/>
          <p:nvPr/>
        </p:nvSpPr>
        <p:spPr>
          <a:xfrm>
            <a:off x="1713713" y="4110790"/>
            <a:ext cx="14860574" cy="4117340"/>
          </a:xfrm>
          <a:prstGeom prst="rect">
            <a:avLst/>
          </a:prstGeom>
          <a:noFill/>
          <a:ln>
            <a:noFill/>
          </a:ln>
        </p:spPr>
        <p:txBody>
          <a:bodyPr anchorCtr="0" anchor="t" bIns="0" lIns="0" spcFirstLastPara="1" rIns="0" wrap="square" tIns="0">
            <a:spAutoFit/>
          </a:bodyPr>
          <a:lstStyle/>
          <a:p>
            <a:pPr indent="0" lvl="0" marL="0" marR="0" rtl="0" algn="just">
              <a:lnSpc>
                <a:spcPct val="130010"/>
              </a:lnSpc>
              <a:spcBef>
                <a:spcPts val="0"/>
              </a:spcBef>
              <a:spcAft>
                <a:spcPts val="0"/>
              </a:spcAft>
              <a:buNone/>
            </a:pPr>
            <a:r>
              <a:rPr b="0" i="0" lang="en-US" sz="2799" u="none" cap="none" strike="noStrike">
                <a:solidFill>
                  <a:srgbClr val="2E0031"/>
                </a:solidFill>
                <a:latin typeface="Tomorrow"/>
                <a:ea typeface="Tomorrow"/>
                <a:cs typeface="Tomorrow"/>
                <a:sym typeface="Tomorrow"/>
              </a:rPr>
              <a:t>Berdasarkan hasil komparasi, MLP direkomendasikan sebagai metode paling optimal untuk prediksi diabetes karena mencatat akurasi tertinggi sebesar 0,9715. Keunggulan utama MLP terletak pada kemampuannya menangani ketidakseimbangan data, yang dibuktikan dengan nilai Recall 0,69 dan F1-Score 0,80 tertinggi untuk kelas positif diabetes dibandingkan model lainnya. Meskipun ELM jauh lebih unggul dalam efisiensi waktu, MLP tetap menjadi pilihan terbaik karena prioritas utama sistem medis adalah meminimalkan kegagalan deteksi pada pasien positif (kelas minoritas). Dengan demikian, MLP menawarkan keandalan klasifikasi yang paling tinggi meskipun membutuhkan waktu komputasi yang lebih lama.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90" name="Google Shape;290;p20"/>
          <p:cNvSpPr/>
          <p:nvPr/>
        </p:nvSpPr>
        <p:spPr>
          <a:xfrm>
            <a:off x="13684667" y="1028700"/>
            <a:ext cx="3574633" cy="8229600"/>
          </a:xfrm>
          <a:custGeom>
            <a:rect b="b" l="l" r="r" t="t"/>
            <a:pathLst>
              <a:path extrusionOk="0" h="8229600" w="3574633">
                <a:moveTo>
                  <a:pt x="0" y="0"/>
                </a:moveTo>
                <a:lnTo>
                  <a:pt x="3574633" y="0"/>
                </a:lnTo>
                <a:lnTo>
                  <a:pt x="3574633" y="8229600"/>
                </a:lnTo>
                <a:lnTo>
                  <a:pt x="0" y="8229600"/>
                </a:lnTo>
                <a:lnTo>
                  <a:pt x="0" y="0"/>
                </a:lnTo>
                <a:close/>
              </a:path>
            </a:pathLst>
          </a:custGeom>
          <a:blipFill rotWithShape="1">
            <a:blip r:embed="rId4">
              <a:alphaModFix/>
            </a:blip>
            <a:stretch>
              <a:fillRect b="0" l="0" r="0" t="0"/>
            </a:stretch>
          </a:blipFill>
          <a:ln>
            <a:noFill/>
          </a:ln>
        </p:spPr>
      </p:sp>
      <p:sp>
        <p:nvSpPr>
          <p:cNvPr id="291" name="Google Shape;291;p20"/>
          <p:cNvSpPr/>
          <p:nvPr/>
        </p:nvSpPr>
        <p:spPr>
          <a:xfrm flipH="1">
            <a:off x="1027187" y="1028700"/>
            <a:ext cx="3574633" cy="8229600"/>
          </a:xfrm>
          <a:custGeom>
            <a:rect b="b" l="l" r="r" t="t"/>
            <a:pathLst>
              <a:path extrusionOk="0" h="8229600" w="3574633">
                <a:moveTo>
                  <a:pt x="3574633" y="0"/>
                </a:moveTo>
                <a:lnTo>
                  <a:pt x="0" y="0"/>
                </a:lnTo>
                <a:lnTo>
                  <a:pt x="0" y="8229600"/>
                </a:lnTo>
                <a:lnTo>
                  <a:pt x="3574633" y="8229600"/>
                </a:lnTo>
                <a:lnTo>
                  <a:pt x="3574633" y="0"/>
                </a:lnTo>
                <a:close/>
              </a:path>
            </a:pathLst>
          </a:custGeom>
          <a:blipFill rotWithShape="1">
            <a:blip r:embed="rId4">
              <a:alphaModFix/>
            </a:blip>
            <a:stretch>
              <a:fillRect b="0" l="0" r="0" t="0"/>
            </a:stretch>
          </a:blipFill>
          <a:ln>
            <a:noFill/>
          </a:ln>
        </p:spPr>
      </p:sp>
      <p:sp>
        <p:nvSpPr>
          <p:cNvPr id="292" name="Google Shape;292;p20"/>
          <p:cNvSpPr txBox="1"/>
          <p:nvPr/>
        </p:nvSpPr>
        <p:spPr>
          <a:xfrm>
            <a:off x="3718060" y="3182457"/>
            <a:ext cx="10851880" cy="4322135"/>
          </a:xfrm>
          <a:prstGeom prst="rect">
            <a:avLst/>
          </a:prstGeom>
          <a:noFill/>
          <a:ln>
            <a:noFill/>
          </a:ln>
        </p:spPr>
        <p:txBody>
          <a:bodyPr anchorCtr="0" anchor="t" bIns="0" lIns="0" spcFirstLastPara="1" rIns="0" wrap="square" tIns="0">
            <a:spAutoFit/>
          </a:bodyPr>
          <a:lstStyle/>
          <a:p>
            <a:pPr indent="0" lvl="0" marL="0" marR="0" rtl="0" algn="ctr">
              <a:lnSpc>
                <a:spcPct val="94997"/>
              </a:lnSpc>
              <a:spcBef>
                <a:spcPts val="0"/>
              </a:spcBef>
              <a:spcAft>
                <a:spcPts val="0"/>
              </a:spcAft>
              <a:buNone/>
            </a:pPr>
            <a:r>
              <a:rPr b="0" i="0" lang="en-US" sz="17330" u="none" cap="none" strike="noStrike">
                <a:solidFill>
                  <a:srgbClr val="FFFFFF"/>
                </a:solidFill>
                <a:latin typeface="Arial"/>
                <a:ea typeface="Arial"/>
                <a:cs typeface="Arial"/>
                <a:sym typeface="Arial"/>
              </a:rPr>
              <a:t>TERIMA KASIH</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